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749807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2B2B2B"/>
                </a:solidFill>
                <a:latin typeface="Calibri"/>
              </a:rPr>
              <a:t>Сахаров Даниэль Александрович</a:t>
            </a:r>
          </a:p>
          <a:p>
            <a:pPr algn="l">
              <a:spcBef>
                <a:spcPts val="200"/>
              </a:spcBef>
              <a:spcAft>
                <a:spcPts val="1400"/>
              </a:spcAft>
            </a:pPr>
            <a:r>
              <a:rPr sz="1800" b="0" i="0">
                <a:solidFill>
                  <a:srgbClr val="6E6E6E"/>
                </a:solidFill>
                <a:latin typeface="Calibri"/>
              </a:rPr>
              <a:t>Бакалавр ВШПИ МФТИ, 2026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5687A"/>
                </a:solidFill>
                <a:latin typeface="Calibri"/>
              </a:rPr>
              <a:t>Собеседование в магистратуру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5687A"/>
                </a:solidFill>
                <a:latin typeface="Calibri"/>
              </a:rPr>
              <a:t>Центр когнитивного моделирования МФТИ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005840" cy="30480"/>
          </a:xfrm>
          <a:prstGeom prst="rect">
            <a:avLst/>
          </a:prstGeom>
          <a:solidFill>
            <a:srgbClr val="55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A9A9A"/>
                </a:solidFill>
                <a:latin typeface="Calibri"/>
              </a:rPr>
              <a:t>github.com/grgtr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59775" y="1920240"/>
            <a:ext cx="2743200" cy="3108960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9A"/>
                </a:solidFill>
                <a:latin typeface="Calibri"/>
              </a:rPr>
              <a:t>фото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9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55687A"/>
                </a:solidFill>
                <a:latin typeface="Calibri"/>
              </a:rPr>
              <a:t>ДОСТИЖЕНИЯ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B2B2B"/>
                </a:solidFill>
                <a:latin typeface="Calibri"/>
              </a:rPr>
              <a:t>Чем я горжусь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05840" cy="27940"/>
          </a:xfrm>
          <a:prstGeom prst="rect">
            <a:avLst/>
          </a:prstGeom>
          <a:solidFill>
            <a:srgbClr val="55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0749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55687A"/>
                </a:solidFill>
                <a:latin typeface="Calibri"/>
              </a:rPr>
              <a:t>Соревнования и олимпиады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Призёр Deep Learning School, 2026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1 место — командный хакатон VK, улучшение ответов Маруси, 2025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Участник AIDAO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Призёр олимпиад Физтеха по математике и физике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874519"/>
            <a:ext cx="50749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55687A"/>
                </a:solidFill>
                <a:latin typeface="Calibri"/>
              </a:rPr>
              <a:t>Научные работы · 68-я конференция МФТИ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Применение сигнатурных представлений многомерных путей в анализе временных рядов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Система оценки качества моделей детекции логических аномалий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160520"/>
            <a:ext cx="5074920" cy="1417320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5687A"/>
                </a:solidFill>
                <a:latin typeface="Calibri"/>
              </a:rPr>
              <a:t>Результат диплома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B2B2B"/>
                </a:solidFill>
                <a:latin typeface="Calibri"/>
              </a:rPr>
              <a:t>Детекция логических аномалий: уровень GPT-4o по AUROC на более слабой открытой VLM — InternVL-8B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9A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55687A"/>
                </a:solidFill>
                <a:latin typeface="Calibri"/>
              </a:rPr>
              <a:t>МОТИВАЦИЯ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B2B2B"/>
                </a:solidFill>
                <a:latin typeface="Calibri"/>
              </a:rPr>
              <a:t>Почему ЦКМ и направление VLA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05840" cy="27940"/>
          </a:xfrm>
          <a:prstGeom prst="rect">
            <a:avLst/>
          </a:prstGeom>
          <a:solidFill>
            <a:srgbClr val="55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E6E6E"/>
                </a:solidFill>
                <a:latin typeface="Calibri"/>
              </a:rPr>
              <a:t>Путь:  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Computer Vision (ViT · MAE · DINO · DETR · CLIP)  →  диплом по CV  →  World Models + RL  →  VLA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10545775" cy="2331720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182880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55687A"/>
                </a:solidFill>
                <a:latin typeface="Calibri"/>
              </a:rPr>
              <a:t>Выполнил тестовое задание на стажёрскую позицию по направлению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Сравнил explicit (DreamerV3 / RSSM) и implicit (TD-MPC2) модели мира на ManiSkill2 LiftCube и DMControl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Объяснил коллапс KL-утилизации у explicit-агента через linear probing R² и CCA латентов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Дообучил VLA-модель SmolVLA (~450M, SigLIP) через LoRA; показал, что её представления комплементарны латентам моделей мира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50" b="1" i="0">
                <a:solidFill>
                  <a:srgbClr val="2B2B2B"/>
                </a:solidFill>
                <a:latin typeface="Calibri"/>
              </a:rPr>
              <a:t>Поэтому мне особенно близка Лаборатория воплощённого ИИ и треки по VLA.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E6E6E"/>
                </a:solidFill>
                <a:latin typeface="Calibri"/>
              </a:rPr>
              <a:t>Интересные курсы программы:  </a:t>
            </a:r>
            <a:r>
              <a:rPr sz="1400" b="0" i="1">
                <a:solidFill>
                  <a:srgbClr val="9A9A9A"/>
                </a:solidFill>
                <a:latin typeface="Calibri"/>
              </a:rPr>
              <a:t>[вписать 2–3 названия с сайта]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9A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55687A"/>
                </a:solidFill>
                <a:latin typeface="Calibri"/>
              </a:rPr>
              <a:t>НАУЧНЫЕ ИНТЕРЕСЫ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B2B2B"/>
                </a:solidFill>
                <a:latin typeface="Calibri"/>
              </a:rPr>
              <a:t>Тема исследований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05840" cy="27940"/>
          </a:xfrm>
          <a:prstGeom prst="rect">
            <a:avLst/>
          </a:prstGeom>
          <a:solidFill>
            <a:srgbClr val="55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B2B2B"/>
                </a:solidFill>
                <a:latin typeface="Calibri"/>
              </a:rPr>
              <a:t>Vision-language-action модели для робототехники: </a:t>
            </a:r>
            <a:r>
              <a:rPr sz="2100" b="1" i="0">
                <a:solidFill>
                  <a:srgbClr val="55687A"/>
                </a:solidFill>
                <a:latin typeface="Calibri"/>
              </a:rPr>
              <a:t>память и планирование действий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1161288" cy="384048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Calibri"/>
              </a:rPr>
              <a:t>VLA-модели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697480"/>
            <a:ext cx="1257300" cy="384048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Calibri"/>
              </a:rPr>
              <a:t>модели мира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70732" y="2697480"/>
            <a:ext cx="1257300" cy="384048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Calibri"/>
              </a:rPr>
              <a:t>память в RL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92624" y="2697480"/>
            <a:ext cx="1833372" cy="384048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Calibri"/>
              </a:rPr>
              <a:t>обобщаемость в 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0588" y="2697480"/>
            <a:ext cx="2217420" cy="384048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E6E6E"/>
                </a:solidFill>
                <a:latin typeface="Calibri"/>
              </a:rPr>
              <a:t>мобильная манипуляция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105457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55687A"/>
                </a:solidFill>
                <a:latin typeface="Calibri"/>
              </a:rPr>
              <a:t>Опорные работы и связь с лабораторией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LERa (Look, Explain, Replan) — реплэннинг по визуальной обратной связи · группа А. Ковалёва, AIRI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ELMUR, MIKASA — внешняя память агентов и бенчмарк памяти роботов · ЦКМ / AIRI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5687A"/>
                </a:solidFill>
                <a:latin typeface="Calibri"/>
              </a:rPr>
              <a:t>—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VLA с визуальным промптингом — проекция трасс ключевых точек на карты глубины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E6E6E"/>
                </a:solidFill>
                <a:latin typeface="Calibri"/>
              </a:rPr>
              <a:t>Мостик: в дипломе я строил систему метрик для оценки рассуждений VLM — умею не только улучшать модель, но и измерять, где она ошибается.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11535" y="4114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9A9A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 spc="180">
                <a:solidFill>
                  <a:srgbClr val="55687A"/>
                </a:solidFill>
                <a:latin typeface="Calibri"/>
              </a:rPr>
              <a:t>ОБРАЗ БУДУЩЕГО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41248"/>
            <a:ext cx="105457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B2B2B"/>
                </a:solidFill>
                <a:latin typeface="Calibri"/>
              </a:rPr>
              <a:t>Через 3–4 года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005840" cy="27940"/>
          </a:xfrm>
          <a:prstGeom prst="rect">
            <a:avLst/>
          </a:prstGeom>
          <a:solidFill>
            <a:srgbClr val="556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2971800"/>
            <a:ext cx="9997135" cy="17780"/>
          </a:xfrm>
          <a:prstGeom prst="rect">
            <a:avLst/>
          </a:prstGeom>
          <a:solidFill>
            <a:srgbClr val="D8D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Магистратура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46888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Первые публикации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и конференции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468880"/>
            <a:ext cx="3291840" cy="1051560"/>
          </a:xfrm>
          <a:prstGeom prst="roundRect">
            <a:avLst>
              <a:gd name="adj" fmla="val 4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Аспирантура /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R&amp;D-исследователь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5687A"/>
                </a:solidFill>
                <a:latin typeface="Calibri"/>
              </a:rPr>
              <a:t>изучать новое   ·   создавать новое   ·   защищать идеи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029200"/>
            <a:ext cx="871697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E6E6E"/>
                </a:solidFill>
                <a:latin typeface="Calibri"/>
              </a:rPr>
              <a:t>Исследователь в области обучения роботов и VLA-моделей — формулирую задачи, строю решения и выношу их на конференции.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