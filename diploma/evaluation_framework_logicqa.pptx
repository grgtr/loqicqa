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Nuni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Nunito-bold.fntdata"/><Relationship Id="rId16" Type="http://schemas.openxmlformats.org/officeDocument/2006/relationships/font" Target="fonts/Nuni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Nunito-boldItalic.fntdata"/><Relationship Id="rId6" Type="http://schemas.openxmlformats.org/officeDocument/2006/relationships/slide" Target="slides/slide1.xml"/><Relationship Id="rId18" Type="http://schemas.openxmlformats.org/officeDocument/2006/relationships/font" Target="fonts/Nuni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chemeClr val="dk1"/>
                </a:solidFill>
              </a:rPr>
              <a:t>Здравствуйте, уважаемые коллеги! Тема моего доклада — "Система оценки качества моделей детекции логических аномалий"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d367d11dad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d367d11dad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d367d11dad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d367d11dad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 индустриальном контроле качества аномалии делятся на структурные и логические. Классические подходы хорошо решают задачу поиска физических деформаций, но и</a:t>
            </a:r>
            <a:r>
              <a:rPr lang="ru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сследователи</a:t>
            </a:r>
            <a:r>
              <a:rPr lang="ru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показали, что дефекты, которые нарушают заданные правила сборки, расположения, комплектации или ориентации, намного сложнее обнаружить.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d367d11dad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d367d11dad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</a:rPr>
              <a:t>Можно </a:t>
            </a:r>
            <a:r>
              <a:rPr lang="ru" sz="1300">
                <a:solidFill>
                  <a:schemeClr val="dk1"/>
                </a:solidFill>
              </a:rPr>
              <a:t>выделить</a:t>
            </a:r>
            <a:r>
              <a:rPr lang="ru" sz="1300">
                <a:solidFill>
                  <a:schemeClr val="dk1"/>
                </a:solidFill>
              </a:rPr>
              <a:t> три подхода для обнаружения логических аномалий.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233A44"/>
                </a:solidFill>
              </a:rPr>
              <a:t>(A) Модели, обученные с нуля (например, AutoEncoder), требуют большого количества изображений.</a:t>
            </a:r>
            <a:endParaRPr sz="1300">
              <a:solidFill>
                <a:srgbClr val="233A4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233A44"/>
                </a:solidFill>
              </a:rPr>
              <a:t>(B) Memory-based модели (например, PatchCore), применяют предварительно обученные модели компьютерного зрения для извлечения визуальных признаков из обычных изображений, требуют небольшого количества изображений.</a:t>
            </a:r>
            <a:endParaRPr sz="1300">
              <a:solidFill>
                <a:srgbClr val="233A4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233A44"/>
                </a:solidFill>
              </a:rPr>
              <a:t>(C) Рассуждающие системы используют предварительно обученную VLM для генерации вопросов, связанных с аномалиями, и анализа тестовых изображений, а ответы на эти вопросы помогают выявлять и объяснять аномалии.</a:t>
            </a:r>
            <a:endParaRPr sz="1300">
              <a:solidFill>
                <a:srgbClr val="233A4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>
                <a:solidFill>
                  <a:schemeClr val="dk1"/>
                </a:solidFill>
              </a:rPr>
              <a:t>Система LogicQA сначала описывает норму, а затем создаёт вопросы о состоянии сцены на изображении. В оригинальной работе оцениваются только финальные ответы по метрикам AUROC и F1. Внутренние когнитивные этапы остаются без оценки. Если метрики падают, трудно узнать истинную причину: модель плохо описала таргетную картинку, ошиблась в логике или создаёт галлюцинации вместо рассуждений?</a:t>
            </a:r>
            <a:endParaRPr sz="13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367d11dad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d367d11dad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chemeClr val="dk1"/>
                </a:solidFill>
              </a:rPr>
              <a:t>Цел</a:t>
            </a:r>
            <a:r>
              <a:rPr lang="ru" sz="1050">
                <a:solidFill>
                  <a:schemeClr val="dk1"/>
                </a:solidFill>
              </a:rPr>
              <a:t>ь работы — </a:t>
            </a:r>
            <a:r>
              <a:rPr lang="ru" sz="1050">
                <a:solidFill>
                  <a:schemeClr val="dk1"/>
                </a:solidFill>
              </a:rPr>
              <a:t>предложить комплексный подход к оценке. Для этого были поставили задачи: декомпозировать пайплайн работы модели, внедрить метрики для каждого этапа рассуждений и верифицировать этот фреймворк на реальных данных.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d3a28e5b58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d3a28e5b5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Предлагаемый подход разделяет процесс оценки на четыре уровня. На первом уровне восприятия информации оценивается способность VLM полно и точно описать нормальное изображение до постановки вопросов об аномалиях. Для оценки семантического соответствия текста и изображения используется нормализованный CLIPScore. Метрика Constraint Coverage Rate (CCR) оценивает долю критически важных логических ограничений нормальности, которые модель описывает самостоятельно. С помощью метода LLM-as-a-Judge проверяется наличие базовых фактов в сгенерированном описании.</a:t>
            </a:r>
            <a:endParaRPr sz="10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chemeClr val="dk1"/>
                </a:solidFill>
              </a:rPr>
              <a:t>константа 2.5 из работы CLIPScore: A Reference-free Evaluation Metric for Image Captioning</a:t>
            </a:r>
            <a:endParaRPr sz="105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d3a28e5b58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d3a28e5b58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 втором уровне анализа атрибутов объектов сцены проверяется способность модели фиксировать количественные и пространственные нарушения. Для оценки точности подсчета объектов вводится Mean Absolute Count Error (MACE). Для оценки понимания взаимного расположения и ориентации объектов вычисляется Spatial Relation Accuracy. </a:t>
            </a:r>
            <a:endParaRPr sz="105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d3a28e5b58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d3a28e5b58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 третьем уровне рассуждений оценивается качество генерации и фильтрации вопросов. Для оценки уверенности модели при мажоритарном голосовании используется Sub-Question Consistency Score, показывающий дисперсию ответов на 5 перефразированных вариаций одного вопроса.</a:t>
            </a:r>
            <a:r>
              <a:rPr lang="ru" sz="1050">
                <a:solidFill>
                  <a:schemeClr val="dk1"/>
                </a:solidFill>
              </a:rPr>
              <a:t> С помощью подхода LLM-as-a-Judge она проверяет, какую долю критически важных фактов модель смогла описать. </a:t>
            </a:r>
            <a:endParaRPr sz="10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d3a28e5b58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d3a28e5b58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chemeClr val="dk1"/>
                </a:solidFill>
              </a:rPr>
              <a:t>Для верификации фреймворка были проведены эксперименты на датасете MVTec Logical Constraints Anomaly Detection. Результаты представлены на слайде. Мы видим высокий CLIPScore — до 84%, что означает адекватное общее восприятие сцены. Однако метрика CCR составила всего от 44 до 63%. То есть, генерируя грамматически верный текст, модель упускает почти половину структурных деталей сцены. На втором уровне метрика SRA показала точность около 80%, что говорит о неплохом пространственном ориентировании модели в рамках данной задачи.</a:t>
            </a:r>
            <a:endParaRPr sz="10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chemeClr val="dk1"/>
                </a:solidFill>
              </a:rPr>
              <a:t>Что эти цифры означают на практике? Опираясь на современные бенчмарки оценки VLM, мы выяснили следующее. Низкий CCR подтверждает известную проблему — модели плохо описывают жесткие ограничения без прямых подсказок. При этом 80 процентов пространственной точности — это очень сильный результат, так как базовые VLM обычно показывают здесь уровень случайного угадывания около 50-60%. Главная причина падения итогового качества кроется на третьем уровне. Консистентность ответов падает до 58%. Из-за высокой внутренней неуверенности модель начинает массово отбраковывать релевантные вопросы. То есть аномалия пропускается не потому, что модель ее не нашла, а потому, что система отфильтровала правильную гипотезу из-за собственной неуверенности.</a:t>
            </a:r>
            <a:endParaRPr sz="105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d3a28e5b58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d3a28e5b58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chemeClr val="dk1"/>
                </a:solidFill>
              </a:rPr>
              <a:t>Перейду к выводам. Предложенная многоуровневая система оценки, позволила найти настоящие причины неэффективности архитектуры LogicQA. Ошибки системы возникают не из-за слабой логики как таковой. Они обусловлены двумя факторами: упущением логических правил еще на этапе визуального восприятия нормы и неуверенностью модели при ответах на вопросы, что нарушает процесс поиска аномалий. Предложенный фреймворк позволяет локализовать эти проблемы и дает инструменты для точечного улучшения архитектур индустриальных ИИ-агентов. На этом у меня всё. Спасибо за внимание! Буду рад ответить на ваши вопросы.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9.png"/><Relationship Id="rId5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068200" y="1076550"/>
            <a:ext cx="74115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50"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400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Система оценки качества моделей детекции логических аномалий</a:t>
            </a:r>
            <a:endParaRPr b="1" sz="4000"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highlight>
                <a:srgbClr val="FFFFFF"/>
              </a:highlight>
            </a:endParaRPr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533400" y="2524650"/>
            <a:ext cx="8286900" cy="95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Д. А. Сахаров</a:t>
            </a:r>
            <a:r>
              <a:rPr baseline="30000" lang="ru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aseline="30000"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Московский физико-технический институт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(национальный исследовательский университет)</a:t>
            </a:r>
            <a:endParaRPr baseline="30000"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0" name="Google Shape;130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4225" y="3476550"/>
            <a:ext cx="1126250" cy="35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0803" y="3229175"/>
            <a:ext cx="796900" cy="84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4"/>
          <p:cNvSpPr txBox="1"/>
          <p:nvPr>
            <p:ph type="ctrTitle"/>
          </p:nvPr>
        </p:nvSpPr>
        <p:spPr>
          <a:xfrm>
            <a:off x="1858703" y="142278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200">
                <a:latin typeface="Times New Roman"/>
                <a:ea typeface="Times New Roman"/>
                <a:cs typeface="Times New Roman"/>
                <a:sym typeface="Times New Roman"/>
              </a:rPr>
              <a:t>Что такое логическая аномалия?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"/>
          <p:cNvSpPr txBox="1"/>
          <p:nvPr>
            <p:ph type="title"/>
          </p:nvPr>
        </p:nvSpPr>
        <p:spPr>
          <a:xfrm>
            <a:off x="5028350" y="1139525"/>
            <a:ext cx="3886500" cy="393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1500"/>
              </a:spcAft>
              <a:buNone/>
            </a:pPr>
            <a:r>
              <a:rPr lang="ru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Логические аномалии: Нарушение правил сборки, комплектации, расположения</a:t>
            </a:r>
            <a:r>
              <a:rPr lang="ru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2" name="Google Shape;14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025" y="438100"/>
            <a:ext cx="4625326" cy="4375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6"/>
          <p:cNvSpPr txBox="1"/>
          <p:nvPr>
            <p:ph type="title"/>
          </p:nvPr>
        </p:nvSpPr>
        <p:spPr>
          <a:xfrm>
            <a:off x="175250" y="249500"/>
            <a:ext cx="5966400" cy="100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latin typeface="Times New Roman"/>
                <a:ea typeface="Times New Roman"/>
                <a:cs typeface="Times New Roman"/>
                <a:sym typeface="Times New Roman"/>
              </a:rPr>
              <a:t>Logical Anomaly Detection with Vision Language Model Generated Questions</a:t>
            </a:r>
            <a:endParaRPr b="1" sz="3000"/>
          </a:p>
        </p:txBody>
      </p:sp>
      <p:pic>
        <p:nvPicPr>
          <p:cNvPr id="148" name="Google Shape;14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2800" y="1257200"/>
            <a:ext cx="4130750" cy="3252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6"/>
          <p:cNvSpPr txBox="1"/>
          <p:nvPr/>
        </p:nvSpPr>
        <p:spPr>
          <a:xfrm>
            <a:off x="5085925" y="1429825"/>
            <a:ext cx="36657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(A) Модели, обученные с нуля</a:t>
            </a:r>
            <a:r>
              <a:rPr lang="ru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(AutoEncoder)</a:t>
            </a:r>
            <a:endParaRPr sz="2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(B) Memory-based модели (PatchCore)</a:t>
            </a:r>
            <a:endParaRPr sz="2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(C) Reasoning-based системы (LogicQA)</a:t>
            </a:r>
            <a:endParaRPr sz="2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7"/>
          <p:cNvSpPr txBox="1"/>
          <p:nvPr>
            <p:ph type="title"/>
          </p:nvPr>
        </p:nvSpPr>
        <p:spPr>
          <a:xfrm>
            <a:off x="451075" y="345450"/>
            <a:ext cx="4325400" cy="9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200">
                <a:latin typeface="Times New Roman"/>
                <a:ea typeface="Times New Roman"/>
                <a:cs typeface="Times New Roman"/>
                <a:sym typeface="Times New Roman"/>
              </a:rPr>
              <a:t>Цели и задачи работы</a:t>
            </a:r>
            <a:endParaRPr b="1"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p17"/>
          <p:cNvSpPr txBox="1"/>
          <p:nvPr/>
        </p:nvSpPr>
        <p:spPr>
          <a:xfrm>
            <a:off x="451075" y="1257075"/>
            <a:ext cx="8415900" cy="3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ru" sz="1800">
                <a:latin typeface="Times New Roman"/>
                <a:ea typeface="Times New Roman"/>
                <a:cs typeface="Times New Roman"/>
                <a:sym typeface="Times New Roman"/>
              </a:rPr>
              <a:t>Цель: Разработать комплексную систему оценки качества рассуждающих VLM-систем для детекции логических аномалий.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ru" sz="1800">
                <a:latin typeface="Times New Roman"/>
                <a:ea typeface="Times New Roman"/>
                <a:cs typeface="Times New Roman"/>
                <a:sym typeface="Times New Roman"/>
              </a:rPr>
              <a:t>Задачи: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800">
                <a:latin typeface="Times New Roman"/>
                <a:ea typeface="Times New Roman"/>
                <a:cs typeface="Times New Roman"/>
                <a:sym typeface="Times New Roman"/>
              </a:rPr>
              <a:t>Декомпозировать процесс работы VLM на смысловые этапы.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ru" sz="1800">
                <a:latin typeface="Times New Roman"/>
                <a:ea typeface="Times New Roman"/>
                <a:cs typeface="Times New Roman"/>
                <a:sym typeface="Times New Roman"/>
              </a:rPr>
              <a:t>Разработать и адаптировать метрики для каждого уровня рассуждений.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ru" sz="1800">
                <a:latin typeface="Times New Roman"/>
                <a:ea typeface="Times New Roman"/>
                <a:cs typeface="Times New Roman"/>
                <a:sym typeface="Times New Roman"/>
              </a:rPr>
              <a:t>Верифицировать систему на бенчмарке и выявить проблемы </a:t>
            </a:r>
            <a:r>
              <a:rPr lang="ru" sz="1800">
                <a:latin typeface="Times New Roman"/>
                <a:ea typeface="Times New Roman"/>
                <a:cs typeface="Times New Roman"/>
                <a:sym typeface="Times New Roman"/>
              </a:rPr>
              <a:t>архитектуры </a:t>
            </a:r>
            <a:r>
              <a:rPr lang="ru" sz="1800">
                <a:latin typeface="Times New Roman"/>
                <a:ea typeface="Times New Roman"/>
                <a:cs typeface="Times New Roman"/>
                <a:sym typeface="Times New Roman"/>
              </a:rPr>
              <a:t>оригинального фреймворка.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8"/>
          <p:cNvSpPr txBox="1"/>
          <p:nvPr/>
        </p:nvSpPr>
        <p:spPr>
          <a:xfrm>
            <a:off x="1956300" y="1968875"/>
            <a:ext cx="5231400" cy="12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ru" sz="1800">
                <a:latin typeface="Times New Roman"/>
                <a:ea typeface="Times New Roman"/>
                <a:cs typeface="Times New Roman"/>
                <a:sym typeface="Times New Roman"/>
              </a:rPr>
              <a:t>Семантическое сходство описания и картинки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 txBox="1"/>
          <p:nvPr>
            <p:ph idx="1" type="body"/>
          </p:nvPr>
        </p:nvSpPr>
        <p:spPr>
          <a:xfrm>
            <a:off x="478225" y="491425"/>
            <a:ext cx="78567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Фреймворк оценки качества: Уровень </a:t>
            </a:r>
            <a:r>
              <a:rPr b="1" lang="ru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Восприятие нормы</a:t>
            </a:r>
            <a:endParaRPr b="1"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2" name="Google Shape;16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75" y="1281975"/>
            <a:ext cx="8520451" cy="84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71750" y="2905250"/>
            <a:ext cx="5400500" cy="848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8"/>
          <p:cNvSpPr txBox="1"/>
          <p:nvPr/>
        </p:nvSpPr>
        <p:spPr>
          <a:xfrm>
            <a:off x="2391200" y="3753900"/>
            <a:ext cx="465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latin typeface="Times New Roman"/>
                <a:ea typeface="Times New Roman"/>
                <a:cs typeface="Times New Roman"/>
                <a:sym typeface="Times New Roman"/>
              </a:rPr>
              <a:t>Constraint Coverage Rate (</a:t>
            </a:r>
            <a:r>
              <a:rPr lang="ru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Полнота описания)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/>
          <p:cNvSpPr txBox="1"/>
          <p:nvPr/>
        </p:nvSpPr>
        <p:spPr>
          <a:xfrm>
            <a:off x="1273050" y="1968875"/>
            <a:ext cx="6597900" cy="12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ru" sz="1800">
                <a:latin typeface="Times New Roman"/>
                <a:ea typeface="Times New Roman"/>
                <a:cs typeface="Times New Roman"/>
                <a:sym typeface="Times New Roman"/>
              </a:rPr>
              <a:t>Mean Absolute Count Error (</a:t>
            </a:r>
            <a:r>
              <a:rPr lang="ru" sz="1800"/>
              <a:t>Ошибка подсчета объектов)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9"/>
          <p:cNvSpPr txBox="1"/>
          <p:nvPr>
            <p:ph idx="1" type="body"/>
          </p:nvPr>
        </p:nvSpPr>
        <p:spPr>
          <a:xfrm>
            <a:off x="478225" y="491425"/>
            <a:ext cx="78567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Фреймворк оценки качества: Уровень </a:t>
            </a:r>
            <a:r>
              <a:rPr b="1" lang="ru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1" lang="ru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b="1" lang="ru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Анализ атрибутов</a:t>
            </a:r>
            <a:endParaRPr b="1" sz="2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1" name="Google Shape;171;p19"/>
          <p:cNvSpPr txBox="1"/>
          <p:nvPr/>
        </p:nvSpPr>
        <p:spPr>
          <a:xfrm>
            <a:off x="643650" y="3734400"/>
            <a:ext cx="78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latin typeface="Times New Roman"/>
                <a:ea typeface="Times New Roman"/>
                <a:cs typeface="Times New Roman"/>
                <a:sym typeface="Times New Roman"/>
              </a:rPr>
              <a:t>Spatial Relation Accuracy</a:t>
            </a:r>
            <a:r>
              <a:rPr lang="ru" sz="1800">
                <a:latin typeface="Times New Roman"/>
                <a:ea typeface="Times New Roman"/>
                <a:cs typeface="Times New Roman"/>
                <a:sym typeface="Times New Roman"/>
              </a:rPr>
              <a:t> (Т</a:t>
            </a:r>
            <a:r>
              <a:rPr lang="ru" sz="1800">
                <a:latin typeface="Times New Roman"/>
                <a:ea typeface="Times New Roman"/>
                <a:cs typeface="Times New Roman"/>
                <a:sym typeface="Times New Roman"/>
              </a:rPr>
              <a:t>очность определения пространственных связей</a:t>
            </a:r>
            <a:r>
              <a:rPr lang="ru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2" name="Google Shape;17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7975" y="997325"/>
            <a:ext cx="3448050" cy="97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21025" y="2972325"/>
            <a:ext cx="3701947" cy="62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0"/>
          <p:cNvSpPr txBox="1"/>
          <p:nvPr/>
        </p:nvSpPr>
        <p:spPr>
          <a:xfrm>
            <a:off x="-107375" y="1881025"/>
            <a:ext cx="8920500" cy="12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ru" sz="1800">
                <a:latin typeface="Times New Roman"/>
                <a:ea typeface="Times New Roman"/>
                <a:cs typeface="Times New Roman"/>
                <a:sym typeface="Times New Roman"/>
              </a:rPr>
              <a:t>Оценка уверенности модели (дисперсия ответов на 5 перефразированных вопросов)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0"/>
          <p:cNvSpPr txBox="1"/>
          <p:nvPr>
            <p:ph idx="1" type="body"/>
          </p:nvPr>
        </p:nvSpPr>
        <p:spPr>
          <a:xfrm>
            <a:off x="478225" y="491425"/>
            <a:ext cx="78567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Фреймворк оценки качества: Уровень </a:t>
            </a:r>
            <a:r>
              <a:rPr b="1" lang="ru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  Генерация и фильтрация вопросов</a:t>
            </a:r>
            <a:endParaRPr b="1"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0" name="Google Shape;18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6300" y="1008675"/>
            <a:ext cx="5231400" cy="1028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25975" y="2505100"/>
            <a:ext cx="2527600" cy="1666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21325" y="2505100"/>
            <a:ext cx="2382576" cy="166617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0"/>
          <p:cNvSpPr txBox="1"/>
          <p:nvPr/>
        </p:nvSpPr>
        <p:spPr>
          <a:xfrm>
            <a:off x="1184925" y="4284625"/>
            <a:ext cx="260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Нормальный экземпляр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5385163" y="4284625"/>
            <a:ext cx="3054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Неправильная комплектация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1"/>
          <p:cNvSpPr txBox="1"/>
          <p:nvPr/>
        </p:nvSpPr>
        <p:spPr>
          <a:xfrm>
            <a:off x="683200" y="419675"/>
            <a:ext cx="5621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5556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b="1" lang="ru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Результаты экспериментов</a:t>
            </a:r>
            <a:endParaRPr b="1" sz="2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0" name="Google Shape;19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4188" y="1035275"/>
            <a:ext cx="6160125" cy="186237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1"/>
          <p:cNvSpPr txBox="1"/>
          <p:nvPr/>
        </p:nvSpPr>
        <p:spPr>
          <a:xfrm>
            <a:off x="839350" y="2937750"/>
            <a:ext cx="7729800" cy="20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1500"/>
              </a:spcAft>
              <a:buNone/>
            </a:pPr>
            <a:r>
              <a:rPr lang="ru" sz="1800">
                <a:latin typeface="Times New Roman"/>
                <a:ea typeface="Times New Roman"/>
                <a:cs typeface="Times New Roman"/>
                <a:sym typeface="Times New Roman"/>
              </a:rPr>
              <a:t>Восприятие (CLIPScore, CCR): результаты согласуются с бенчмарками </a:t>
            </a:r>
            <a:r>
              <a:rPr i="1" lang="ru" sz="1800">
                <a:latin typeface="Times New Roman"/>
                <a:ea typeface="Times New Roman"/>
                <a:cs typeface="Times New Roman"/>
                <a:sym typeface="Times New Roman"/>
              </a:rPr>
              <a:t>VALOR-EVAL</a:t>
            </a:r>
            <a:r>
              <a:rPr lang="ru" sz="180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i="1" lang="ru" sz="1800">
                <a:latin typeface="Times New Roman"/>
                <a:ea typeface="Times New Roman"/>
                <a:cs typeface="Times New Roman"/>
                <a:sym typeface="Times New Roman"/>
              </a:rPr>
              <a:t>FaithScore</a:t>
            </a:r>
            <a:r>
              <a:rPr lang="ru" sz="1800">
                <a:latin typeface="Times New Roman"/>
                <a:ea typeface="Times New Roman"/>
                <a:cs typeface="Times New Roman"/>
                <a:sym typeface="Times New Roman"/>
              </a:rPr>
              <a:t>.                                                                                Атрибуты (SRA ~80%): Уверенно высокий результат (baselines обычных VLM показывают точность около 50-60%).                                            Рассуждение (Consistency ~58%): Падение согласованности ответов из-за отбраковки правильных гипотез или галлюцинаций</a:t>
            </a:r>
            <a:endParaRPr b="1"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2"/>
          <p:cNvSpPr txBox="1"/>
          <p:nvPr/>
        </p:nvSpPr>
        <p:spPr>
          <a:xfrm>
            <a:off x="702725" y="331850"/>
            <a:ext cx="5621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Заключение</a:t>
            </a:r>
            <a:endParaRPr b="1" sz="2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" name="Google Shape;197;p22"/>
          <p:cNvSpPr txBox="1"/>
          <p:nvPr/>
        </p:nvSpPr>
        <p:spPr>
          <a:xfrm>
            <a:off x="917450" y="947450"/>
            <a:ext cx="5621700" cy="39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ru" sz="1800">
                <a:latin typeface="Times New Roman"/>
                <a:ea typeface="Times New Roman"/>
                <a:cs typeface="Times New Roman"/>
                <a:sym typeface="Times New Roman"/>
              </a:rPr>
              <a:t>Разработана многоуровневая система оценки, позволяющая интерпретировать ошибки VLM в задачах обнаружения аномалий.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ru" sz="1800">
                <a:latin typeface="Times New Roman"/>
                <a:ea typeface="Times New Roman"/>
                <a:cs typeface="Times New Roman"/>
                <a:sym typeface="Times New Roman"/>
              </a:rPr>
              <a:t>Главные выводы по LogicQA: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○"/>
            </a:pPr>
            <a:r>
              <a:rPr lang="ru" sz="1800">
                <a:latin typeface="Times New Roman"/>
                <a:ea typeface="Times New Roman"/>
                <a:cs typeface="Times New Roman"/>
                <a:sym typeface="Times New Roman"/>
              </a:rPr>
              <a:t>Ошибки вызваны дефицитом полноты первичного восприятия (модель упускает логические правила).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○"/>
            </a:pPr>
            <a:r>
              <a:rPr lang="ru" sz="1800">
                <a:latin typeface="Times New Roman"/>
                <a:ea typeface="Times New Roman"/>
                <a:cs typeface="Times New Roman"/>
                <a:sym typeface="Times New Roman"/>
              </a:rPr>
              <a:t>Ошибки вызваны высокой неуверенностью (галлюцинациями) на этапе ответов на вопросы, что ломает пайплайн фильтрации.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ru" sz="1800">
                <a:latin typeface="Times New Roman"/>
                <a:ea typeface="Times New Roman"/>
                <a:cs typeface="Times New Roman"/>
                <a:sym typeface="Times New Roman"/>
              </a:rPr>
              <a:t>Предложенный фреймворк открывает путь к направленному совершенствованию VLM-систем.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