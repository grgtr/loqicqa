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80000"/>
          </a:xfrm>
          <a:prstGeom prst="rect">
            <a:avLst/>
          </a:prstGeom>
          <a:solidFill>
            <a:srgbClr val="4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00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5A5A6"/>
                </a:solidFill>
                <a:latin typeface="Times New Roman"/>
              </a:rPr>
              <a:t>МОСКОВСКИЙ ФИЗИКО-ТЕХНИЧЕСКИЙ ИНСТИТУТ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Times New Roman"/>
              </a:rPr>
              <a:t>Улучшения фреймворка обнаружения
логических аномалий и результаты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95A5A6"/>
                </a:solidFill>
                <a:latin typeface="Times New Roman"/>
              </a:rPr>
              <a:t>Training-free VLM-пайплайн на основе LogicQA · InternVL2.5-8B · MVTec LOCO AD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3383280"/>
            <a:ext cx="8321040" cy="40000"/>
          </a:xfrm>
          <a:prstGeom prst="rect">
            <a:avLst/>
          </a:prstGeom>
          <a:solidFill>
            <a:srgbClr val="4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5661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E8A020"/>
                </a:solidFill>
                <a:latin typeface="Times New Roman"/>
              </a:rPr>
              <a:t>Д. А. Сахаров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9319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5A5A6"/>
                </a:solidFill>
                <a:latin typeface="Times New Roman"/>
              </a:rPr>
              <a:t>Научный руководитель: Копылов И.С.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5A5A6"/>
                </a:solidFill>
                <a:latin typeface="Times New Roman"/>
              </a:rPr>
              <a:t>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5023500"/>
            <a:ext cx="9144000" cy="120000"/>
          </a:xfrm>
          <a:prstGeom prst="rect">
            <a:avLst/>
          </a:prstGeom>
          <a:solidFill>
            <a:srgbClr val="4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8321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Times New Roman"/>
              </a:rPr>
              <a:t>Проблема: логические аномалии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777240"/>
            <a:ext cx="8321040" cy="40000"/>
          </a:xfrm>
          <a:prstGeom prst="rect">
            <a:avLst/>
          </a:prstGeom>
          <a:solidFill>
            <a:srgbClr val="4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60120"/>
            <a:ext cx="3931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4A86C8"/>
                </a:solidFill>
                <a:latin typeface="Times New Roman"/>
              </a:rPr>
              <a:t>Структурная аномалия</a:t>
            </a:r>
          </a:p>
          <a:p>
            <a:pPr algn="l">
              <a:spcBef>
                <a:spcPts val="120"/>
              </a:spcBef>
            </a:pPr>
            <a:r>
              <a:rPr sz="1500">
                <a:solidFill>
                  <a:srgbClr val="FFFFFF"/>
                </a:solidFill>
                <a:latin typeface="Times New Roman"/>
              </a:rPr>
              <a:t>▸  Царапина, трещина, загрязнение</a:t>
            </a:r>
          </a:p>
          <a:p>
            <a:pPr algn="l">
              <a:spcBef>
                <a:spcPts val="120"/>
              </a:spcBef>
            </a:pPr>
            <a:r>
              <a:rPr sz="1500">
                <a:solidFill>
                  <a:srgbClr val="FFFFFF"/>
                </a:solidFill>
                <a:latin typeface="Times New Roman"/>
              </a:rPr>
              <a:t>▸  Локальный дефект пикселей</a:t>
            </a:r>
          </a:p>
          <a:p>
            <a:pPr algn="l">
              <a:spcBef>
                <a:spcPts val="120"/>
              </a:spcBef>
            </a:pPr>
            <a:r>
              <a:rPr sz="1500">
                <a:solidFill>
                  <a:srgbClr val="FFFFFF"/>
                </a:solidFill>
                <a:latin typeface="Times New Roman"/>
              </a:rPr>
              <a:t>▸  PatchCore, DRAEM → AUROC &gt; 0.95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00600" y="960120"/>
            <a:ext cx="3931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8A020"/>
                </a:solidFill>
                <a:latin typeface="Times New Roman"/>
              </a:rPr>
              <a:t>Логическая аномалия  ← наша задача</a:t>
            </a:r>
          </a:p>
          <a:p>
            <a:pPr algn="l">
              <a:spcBef>
                <a:spcPts val="120"/>
              </a:spcBef>
            </a:pPr>
            <a:r>
              <a:rPr sz="1500">
                <a:solidFill>
                  <a:srgbClr val="FFFFFF"/>
                </a:solidFill>
                <a:latin typeface="Times New Roman"/>
              </a:rPr>
              <a:t>▸  Нарушение правил комплектации</a:t>
            </a:r>
          </a:p>
          <a:p>
            <a:pPr algn="l">
              <a:spcBef>
                <a:spcPts val="120"/>
              </a:spcBef>
            </a:pPr>
            <a:r>
              <a:rPr sz="1500">
                <a:solidFill>
                  <a:srgbClr val="FFFFFF"/>
                </a:solidFill>
                <a:latin typeface="Times New Roman"/>
              </a:rPr>
              <a:t>▸  Каждый пиксель нормален — дефект только в смысле</a:t>
            </a:r>
          </a:p>
          <a:p>
            <a:pPr algn="l">
              <a:spcBef>
                <a:spcPts val="120"/>
              </a:spcBef>
            </a:pPr>
            <a:r>
              <a:rPr sz="1500">
                <a:solidFill>
                  <a:srgbClr val="FFFFFF"/>
                </a:solidFill>
                <a:latin typeface="Times New Roman"/>
              </a:rPr>
              <a:t>▸  «2 мандарина» вместо «1» → все методы слепы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60520" y="16459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95A5A6"/>
                </a:solidFill>
                <a:latin typeface="Times New Roman"/>
              </a:rPr>
              <a:t>VS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3429000"/>
            <a:ext cx="8321040" cy="1371600"/>
          </a:xfrm>
          <a:prstGeom prst="rect">
            <a:avLst/>
          </a:prstGeom>
          <a:solidFill>
            <a:srgbClr val="1A3A5C"/>
          </a:solidFill>
          <a:ln w="25000">
            <a:solidFill>
              <a:srgbClr val="4A8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>
                <a:solidFill>
                  <a:srgbClr val="95A5A6"/>
                </a:solidFill>
                <a:latin typeface="Times New Roman"/>
              </a:rPr>
              <a:t>Единственный подход, способный работать с логическими аномалиями:</a:t>
            </a:r>
          </a:p>
          <a:p>
            <a:pPr algn="l"/>
            <a:r>
              <a:rPr sz="1700" b="1">
                <a:solidFill>
                  <a:srgbClr val="FFFFFF"/>
                </a:solidFill>
                <a:latin typeface="Times New Roman"/>
              </a:rPr>
              <a:t>визуально-языковая модель как рассуждающий агент — формирует и проверяет семантические ограничения нормальности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8321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Times New Roman"/>
              </a:rPr>
              <a:t>Исходная точка: воспроизведение LogicQA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777240"/>
            <a:ext cx="8321040" cy="40000"/>
          </a:xfrm>
          <a:prstGeom prst="rect">
            <a:avLst/>
          </a:prstGeom>
          <a:solidFill>
            <a:srgbClr val="4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0"/>
            <a:ext cx="8321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5A5A6"/>
                </a:solidFill>
                <a:latin typeface="Times New Roman"/>
              </a:rPr>
              <a:t>InternVL2.5-8B · n_shots=3 · монолитный Stage 1 · без CoT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1280160"/>
          <a:ext cx="530352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3920"/>
                <a:gridCol w="883920"/>
                <a:gridCol w="883920"/>
                <a:gridCol w="883920"/>
                <a:gridCol w="883920"/>
                <a:gridCol w="883920"/>
              </a:tblGrid>
              <a:tr h="378822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Класс</a:t>
                      </a:r>
                    </a:p>
                  </a:txBody>
                  <a:tcPr>
                    <a:solidFill>
                      <a:srgbClr val="4A86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AUROC</a:t>
                      </a:r>
                    </a:p>
                  </a:txBody>
                  <a:tcPr>
                    <a:solidFill>
                      <a:srgbClr val="4A86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F1-max</a:t>
                      </a:r>
                    </a:p>
                  </a:txBody>
                  <a:tcPr>
                    <a:solidFill>
                      <a:srgbClr val="4A86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TP</a:t>
                      </a:r>
                    </a:p>
                  </a:txBody>
                  <a:tcPr>
                    <a:solidFill>
                      <a:srgbClr val="4A86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FP</a:t>
                      </a:r>
                    </a:p>
                  </a:txBody>
                  <a:tcPr>
                    <a:solidFill>
                      <a:srgbClr val="4A86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FN</a:t>
                      </a:r>
                    </a:p>
                  </a:txBody>
                  <a:tcPr>
                    <a:solidFill>
                      <a:srgbClr val="4A86C8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  <a:latin typeface="Times New Roman"/>
                        </a:rPr>
                        <a:t>breakfast_box</a:t>
                      </a:r>
                    </a:p>
                  </a:txBody>
                  <a:tcPr>
                    <a:solidFill>
                      <a:srgbClr val="2525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  <a:latin typeface="Times New Roman"/>
                        </a:rPr>
                        <a:t>0.589</a:t>
                      </a:r>
                    </a:p>
                  </a:txBody>
                  <a:tcPr>
                    <a:solidFill>
                      <a:srgbClr val="2525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  <a:latin typeface="Times New Roman"/>
                        </a:rPr>
                        <a:t>0.619</a:t>
                      </a:r>
                    </a:p>
                  </a:txBody>
                  <a:tcPr>
                    <a:solidFill>
                      <a:srgbClr val="2525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  <a:latin typeface="Times New Roman"/>
                        </a:rPr>
                        <a:t>90</a:t>
                      </a:r>
                    </a:p>
                  </a:txBody>
                  <a:tcPr>
                    <a:solidFill>
                      <a:srgbClr val="2525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  <a:latin typeface="Times New Roman"/>
                        </a:rPr>
                        <a:t>42</a:t>
                      </a:r>
                    </a:p>
                  </a:txBody>
                  <a:tcPr>
                    <a:solidFill>
                      <a:srgbClr val="2525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  <a:latin typeface="Times New Roman"/>
                        </a:rPr>
                        <a:t>83</a:t>
                      </a:r>
                    </a:p>
                  </a:txBody>
                  <a:tcPr>
                    <a:solidFill>
                      <a:srgbClr val="25253D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  <a:latin typeface="Times New Roman"/>
                        </a:rPr>
                        <a:t>juice_bottle</a:t>
                      </a:r>
                    </a:p>
                  </a:txBody>
                  <a:tcPr>
                    <a:solidFill>
                      <a:srgbClr val="2E2E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  <a:latin typeface="Times New Roman"/>
                        </a:rPr>
                        <a:t>0.537</a:t>
                      </a:r>
                    </a:p>
                  </a:txBody>
                  <a:tcPr>
                    <a:solidFill>
                      <a:srgbClr val="2E2E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  <a:latin typeface="Times New Roman"/>
                        </a:rPr>
                        <a:t>0.751</a:t>
                      </a:r>
                    </a:p>
                  </a:txBody>
                  <a:tcPr>
                    <a:solidFill>
                      <a:srgbClr val="2E2E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  <a:latin typeface="Times New Roman"/>
                        </a:rPr>
                        <a:t>127</a:t>
                      </a:r>
                    </a:p>
                  </a:txBody>
                  <a:tcPr>
                    <a:solidFill>
                      <a:srgbClr val="2E2E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  <a:latin typeface="Times New Roman"/>
                        </a:rPr>
                        <a:t>44</a:t>
                      </a:r>
                    </a:p>
                  </a:txBody>
                  <a:tcPr>
                    <a:solidFill>
                      <a:srgbClr val="2E2E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  <a:latin typeface="Times New Roman"/>
                        </a:rPr>
                        <a:t>109</a:t>
                      </a:r>
                    </a:p>
                  </a:txBody>
                  <a:tcPr>
                    <a:solidFill>
                      <a:srgbClr val="2E2E4A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  <a:latin typeface="Times New Roman"/>
                        </a:rPr>
                        <a:t>pushpins</a:t>
                      </a:r>
                    </a:p>
                  </a:txBody>
                  <a:tcPr>
                    <a:solidFill>
                      <a:srgbClr val="2525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  <a:latin typeface="Times New Roman"/>
                        </a:rPr>
                        <a:t>0.543</a:t>
                      </a:r>
                    </a:p>
                  </a:txBody>
                  <a:tcPr>
                    <a:solidFill>
                      <a:srgbClr val="2525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  <a:latin typeface="Times New Roman"/>
                        </a:rPr>
                        <a:t>0.569</a:t>
                      </a:r>
                    </a:p>
                  </a:txBody>
                  <a:tcPr>
                    <a:solidFill>
                      <a:srgbClr val="2525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  <a:latin typeface="Times New Roman"/>
                        </a:rPr>
                        <a:t>51</a:t>
                      </a:r>
                    </a:p>
                  </a:txBody>
                  <a:tcPr>
                    <a:solidFill>
                      <a:srgbClr val="2525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  <a:latin typeface="Times New Roman"/>
                        </a:rPr>
                        <a:t>29</a:t>
                      </a:r>
                    </a:p>
                  </a:txBody>
                  <a:tcPr>
                    <a:solidFill>
                      <a:srgbClr val="2525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  <a:latin typeface="Times New Roman"/>
                        </a:rPr>
                        <a:t>121</a:t>
                      </a:r>
                    </a:p>
                  </a:txBody>
                  <a:tcPr>
                    <a:solidFill>
                      <a:srgbClr val="25253D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  <a:latin typeface="Times New Roman"/>
                        </a:rPr>
                        <a:t>screw_bag</a:t>
                      </a:r>
                    </a:p>
                  </a:txBody>
                  <a:tcPr>
                    <a:solidFill>
                      <a:srgbClr val="2E2E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  <a:latin typeface="Times New Roman"/>
                        </a:rPr>
                        <a:t>0.484</a:t>
                      </a:r>
                    </a:p>
                  </a:txBody>
                  <a:tcPr>
                    <a:solidFill>
                      <a:srgbClr val="2E2E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  <a:latin typeface="Times New Roman"/>
                        </a:rPr>
                        <a:t>0.692</a:t>
                      </a:r>
                    </a:p>
                  </a:txBody>
                  <a:tcPr>
                    <a:solidFill>
                      <a:srgbClr val="2E2E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  <a:latin typeface="Times New Roman"/>
                        </a:rPr>
                        <a:t>73</a:t>
                      </a:r>
                    </a:p>
                  </a:txBody>
                  <a:tcPr>
                    <a:solidFill>
                      <a:srgbClr val="2E2E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  <a:latin typeface="Times New Roman"/>
                        </a:rPr>
                        <a:t>44</a:t>
                      </a:r>
                    </a:p>
                  </a:txBody>
                  <a:tcPr>
                    <a:solidFill>
                      <a:srgbClr val="2E2E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  <a:latin typeface="Times New Roman"/>
                        </a:rPr>
                        <a:t>146</a:t>
                      </a:r>
                    </a:p>
                  </a:txBody>
                  <a:tcPr>
                    <a:solidFill>
                      <a:srgbClr val="2E2E4A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  <a:latin typeface="Times New Roman"/>
                        </a:rPr>
                        <a:t>splicing_connectors</a:t>
                      </a:r>
                    </a:p>
                  </a:txBody>
                  <a:tcPr>
                    <a:solidFill>
                      <a:srgbClr val="2525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  <a:latin typeface="Times New Roman"/>
                        </a:rPr>
                        <a:t>0.481</a:t>
                      </a:r>
                    </a:p>
                  </a:txBody>
                  <a:tcPr>
                    <a:solidFill>
                      <a:srgbClr val="2525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  <a:latin typeface="Times New Roman"/>
                        </a:rPr>
                        <a:t>0.645</a:t>
                      </a:r>
                    </a:p>
                  </a:txBody>
                  <a:tcPr>
                    <a:solidFill>
                      <a:srgbClr val="2525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  <a:latin typeface="Times New Roman"/>
                        </a:rPr>
                        <a:t>160</a:t>
                      </a:r>
                    </a:p>
                  </a:txBody>
                  <a:tcPr>
                    <a:solidFill>
                      <a:srgbClr val="2525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  <a:latin typeface="Times New Roman"/>
                        </a:rPr>
                        <a:t>106</a:t>
                      </a:r>
                    </a:p>
                  </a:txBody>
                  <a:tcPr>
                    <a:solidFill>
                      <a:srgbClr val="2525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  <a:latin typeface="Times New Roman"/>
                        </a:rPr>
                        <a:t>33</a:t>
                      </a:r>
                    </a:p>
                  </a:txBody>
                  <a:tcPr>
                    <a:solidFill>
                      <a:srgbClr val="25253D"/>
                    </a:solidFill>
                  </a:tcPr>
                </a:tc>
              </a:tr>
              <a:tr h="378828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  <a:latin typeface="Times New Roman"/>
                        </a:rPr>
                        <a:t>AVG</a:t>
                      </a:r>
                    </a:p>
                  </a:txBody>
                  <a:tcPr>
                    <a:solidFill>
                      <a:srgbClr val="2E2E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  <a:latin typeface="Times New Roman"/>
                        </a:rPr>
                        <a:t>0.527</a:t>
                      </a:r>
                    </a:p>
                  </a:txBody>
                  <a:tcPr>
                    <a:solidFill>
                      <a:srgbClr val="2E2E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  <a:latin typeface="Times New Roman"/>
                        </a:rPr>
                        <a:t>0.655</a:t>
                      </a:r>
                    </a:p>
                  </a:txBody>
                  <a:tcPr>
                    <a:solidFill>
                      <a:srgbClr val="2E2E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  <a:latin typeface="Times New Roman"/>
                        </a:rPr>
                        <a:t>—</a:t>
                      </a:r>
                    </a:p>
                  </a:txBody>
                  <a:tcPr>
                    <a:solidFill>
                      <a:srgbClr val="2E2E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  <a:latin typeface="Times New Roman"/>
                        </a:rPr>
                        <a:t>—</a:t>
                      </a:r>
                    </a:p>
                  </a:txBody>
                  <a:tcPr>
                    <a:solidFill>
                      <a:srgbClr val="2E2E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  <a:latin typeface="Times New Roman"/>
                        </a:rPr>
                        <a:t>—</a:t>
                      </a:r>
                    </a:p>
                  </a:txBody>
                  <a:tcPr>
                    <a:solidFill>
                      <a:srgbClr val="2E2E4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035040" y="13716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5A5A6"/>
                </a:solidFill>
                <a:latin typeface="Times New Roman"/>
              </a:rPr>
              <a:t>GPT-4o (оригинал):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0" y="1737360"/>
            <a:ext cx="2743200" cy="502920"/>
          </a:xfrm>
          <a:prstGeom prst="rect">
            <a:avLst/>
          </a:prstGeom>
          <a:solidFill>
            <a:srgbClr val="276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Times New Roman"/>
              </a:rPr>
              <a:t>AVG AUROC ≈ 0.876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2423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5A5A6"/>
                </a:solidFill>
                <a:latin typeface="Times New Roman"/>
              </a:rPr>
              <a:t>Наш baseline: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2788920"/>
            <a:ext cx="2743200" cy="5029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Times New Roman"/>
              </a:rPr>
              <a:t>AVG AUROC = 0.527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4069080"/>
            <a:ext cx="8321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8A020"/>
                </a:solidFill>
                <a:latin typeface="Times New Roman"/>
              </a:rPr>
              <a:t>Два корневых дефекта:</a:t>
            </a:r>
          </a:p>
          <a:p>
            <a:pPr algn="l">
              <a:spcBef>
                <a:spcPts val="120"/>
              </a:spcBef>
            </a:pPr>
            <a:r>
              <a:rPr sz="1400">
                <a:solidFill>
                  <a:srgbClr val="FFCC80"/>
                </a:solidFill>
                <a:latin typeface="Times New Roman"/>
              </a:rPr>
              <a:t>▸  Монолитное описание галлюцинирует и пропускает компоненты (CCR=63%)</a:t>
            </a:r>
          </a:p>
          <a:p>
            <a:pPr algn="l">
              <a:spcBef>
                <a:spcPts val="120"/>
              </a:spcBef>
            </a:pPr>
            <a:r>
              <a:rPr sz="1400">
                <a:solidFill>
                  <a:srgbClr val="FFCC80"/>
                </a:solidFill>
                <a:latin typeface="Times New Roman"/>
              </a:rPr>
              <a:t>▸  Модель отвечает «Yes» без реального анализа — yes-bias (FP=42)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8321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Times New Roman"/>
              </a:rPr>
              <a:t>Улучшение A: декомпозированный Stage 1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777240"/>
            <a:ext cx="8321040" cy="40000"/>
          </a:xfrm>
          <a:prstGeom prst="rect">
            <a:avLst/>
          </a:prstGeom>
          <a:solidFill>
            <a:srgbClr val="4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60120"/>
            <a:ext cx="30175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C0392B"/>
                </a:solidFill>
                <a:latin typeface="Times New Roman"/>
              </a:rPr>
              <a:t>Проблема</a:t>
            </a:r>
          </a:p>
          <a:p>
            <a:pPr algn="l">
              <a:spcBef>
                <a:spcPts val="120"/>
              </a:spcBef>
            </a:pPr>
            <a:r>
              <a:rPr sz="1400">
                <a:solidFill>
                  <a:srgbClr val="FFFFFF"/>
                </a:solidFill>
                <a:latin typeface="Times New Roman"/>
              </a:rPr>
              <a:t>▸  Один запрос на всё изображение</a:t>
            </a:r>
          </a:p>
          <a:p>
            <a:pPr algn="l">
              <a:spcBef>
                <a:spcPts val="120"/>
              </a:spcBef>
            </a:pPr>
            <a:r>
              <a:rPr sz="1400">
                <a:solidFill>
                  <a:srgbClr val="FFFFFF"/>
                </a:solidFill>
                <a:latin typeface="Times New Roman"/>
              </a:rPr>
              <a:t>▸  VLM «галлюцинирует» объекты</a:t>
            </a:r>
          </a:p>
          <a:p>
            <a:pPr algn="l">
              <a:spcBef>
                <a:spcPts val="120"/>
              </a:spcBef>
            </a:pPr>
            <a:r>
              <a:rPr sz="1400">
                <a:solidFill>
                  <a:srgbClr val="FFFFFF"/>
                </a:solidFill>
                <a:latin typeface="Times New Roman"/>
              </a:rPr>
              <a:t>▸  Упускает редкие компоненты</a:t>
            </a:r>
          </a:p>
          <a:p>
            <a:pPr algn="l">
              <a:spcBef>
                <a:spcPts val="120"/>
              </a:spcBef>
            </a:pPr>
            <a:r>
              <a:rPr sz="1400">
                <a:solidFill>
                  <a:srgbClr val="FFFFFF"/>
                </a:solidFill>
                <a:latin typeface="Times New Roman"/>
              </a:rPr>
              <a:t>▸  CCR baseline = 63.3%</a:t>
            </a:r>
          </a:p>
        </p:txBody>
      </p:sp>
      <p:sp>
        <p:nvSpPr>
          <p:cNvPr id="5" name="Rectangle 4"/>
          <p:cNvSpPr/>
          <p:nvPr/>
        </p:nvSpPr>
        <p:spPr>
          <a:xfrm>
            <a:off x="3520440" y="1645920"/>
            <a:ext cx="457200" cy="64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520440" y="1737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4A86C8"/>
                </a:solidFill>
                <a:latin typeface="Times New Roman"/>
              </a:rPr>
              <a:t>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69080" y="960120"/>
            <a:ext cx="30175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7AE60"/>
                </a:solidFill>
                <a:latin typeface="Times New Roman"/>
              </a:rPr>
              <a:t>Решение</a:t>
            </a:r>
          </a:p>
          <a:p>
            <a:pPr algn="l">
              <a:spcBef>
                <a:spcPts val="120"/>
              </a:spcBef>
            </a:pPr>
            <a:r>
              <a:rPr sz="1400">
                <a:solidFill>
                  <a:srgbClr val="FFFFFF"/>
                </a:solidFill>
                <a:latin typeface="Times New Roman"/>
              </a:rPr>
              <a:t>▸  6 отдельных запросов по компонентам</a:t>
            </a:r>
          </a:p>
          <a:p>
            <a:pPr algn="l">
              <a:spcBef>
                <a:spcPts val="120"/>
              </a:spcBef>
            </a:pPr>
            <a:r>
              <a:rPr sz="1400">
                <a:solidFill>
                  <a:srgbClr val="FFFFFF"/>
                </a:solidFill>
                <a:latin typeface="Times New Roman"/>
              </a:rPr>
              <a:t>▸  tangerines / nectarine / muesli /</a:t>
            </a:r>
          </a:p>
          <a:p>
            <a:pPr algn="l">
              <a:spcBef>
                <a:spcPts val="120"/>
              </a:spcBef>
            </a:pPr>
            <a:r>
              <a:rPr sz="1400">
                <a:solidFill>
                  <a:srgbClr val="FFFFFF"/>
                </a:solidFill>
                <a:latin typeface="Times New Roman"/>
              </a:rPr>
              <a:t>▸  banana chips / almonds / yogurt</a:t>
            </a:r>
          </a:p>
          <a:p>
            <a:pPr algn="l">
              <a:spcBef>
                <a:spcPts val="120"/>
              </a:spcBef>
            </a:pPr>
            <a:r>
              <a:rPr sz="1400">
                <a:solidFill>
                  <a:srgbClr val="FFFFFF"/>
                </a:solidFill>
                <a:latin typeface="Times New Roman"/>
              </a:rPr>
              <a:t>▸  5 изображений × 6 = 30 VLM-вызовов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78040" y="105156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5A5A6"/>
                </a:solidFill>
                <a:latin typeface="Times New Roman"/>
              </a:rPr>
              <a:t>Результат:</a:t>
            </a:r>
          </a:p>
        </p:txBody>
      </p:sp>
      <p:sp>
        <p:nvSpPr>
          <p:cNvPr id="9" name="Rectangle 8"/>
          <p:cNvSpPr/>
          <p:nvPr/>
        </p:nvSpPr>
        <p:spPr>
          <a:xfrm>
            <a:off x="7178040" y="1417320"/>
            <a:ext cx="1783080" cy="5029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CCR: 63% → 100%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78040" y="2011680"/>
            <a:ext cx="1783080" cy="502920"/>
          </a:xfrm>
          <a:prstGeom prst="rect">
            <a:avLst/>
          </a:prstGeom>
          <a:solidFill>
            <a:srgbClr val="276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MACE: 0.44 → 0.24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3337560"/>
            <a:ext cx="8321040" cy="1554480"/>
          </a:xfrm>
          <a:prstGeom prst="rect">
            <a:avLst/>
          </a:prstGeom>
          <a:solidFill>
            <a:srgbClr val="1A3A5C"/>
          </a:solidFill>
          <a:ln w="20000">
            <a:solidFill>
              <a:srgbClr val="4A8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E8A020"/>
                </a:solidFill>
                <a:latin typeface="Times New Roman"/>
              </a:rPr>
              <a:t>Почему работает: </a:t>
            </a:r>
            <a:r>
              <a:rPr sz="1500">
                <a:solidFill>
                  <a:srgbClr val="FFFFFF"/>
                </a:solidFill>
                <a:latin typeface="Times New Roman"/>
              </a:rPr>
              <a:t>при фокусированном запросе «опиши только отсек с мандаринами» VLM не может галлюцинировать другие объекты — внимание жёстко ограничено компонентом. Все нормативные ограничения попадают в итоговое описание.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8321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Times New Roman"/>
              </a:rPr>
              <a:t>Улучшения пайплайна B – F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777240"/>
            <a:ext cx="8321040" cy="40000"/>
          </a:xfrm>
          <a:prstGeom prst="rect">
            <a:avLst/>
          </a:prstGeom>
          <a:solidFill>
            <a:srgbClr val="4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914400"/>
            <a:ext cx="2743200" cy="1737360"/>
          </a:xfrm>
          <a:prstGeom prst="rect">
            <a:avLst/>
          </a:prstGeom>
          <a:solidFill>
            <a:srgbClr val="22223E"/>
          </a:solidFill>
          <a:ln w="25000">
            <a:solidFill>
              <a:srgbClr val="167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914400"/>
            <a:ext cx="2743200" cy="90000"/>
          </a:xfrm>
          <a:prstGeom prst="rect">
            <a:avLst/>
          </a:prstGeom>
          <a:solidFill>
            <a:srgbClr val="16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91480" y="929400"/>
            <a:ext cx="220000" cy="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Times New Roman"/>
              </a:rPr>
              <a:t>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1480" y="934400"/>
            <a:ext cx="2383200" cy="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Times New Roman"/>
              </a:rPr>
              <a:t>Hedge-filtering  ·  Stage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1480" y="1044400"/>
            <a:ext cx="2623200" cy="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Times New Roman"/>
              </a:rPr>
              <a:t>Исключаем утверждения с «sometimes», «may», «appears to» из нормативного определения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1480" y="1684400"/>
            <a:ext cx="26232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E8A020"/>
                </a:solidFill>
                <a:latin typeface="Times New Roman"/>
              </a:rPr>
              <a:t>→ Устойчивость нормативного определения к случайным наблюдениям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64408" y="914400"/>
            <a:ext cx="2743200" cy="1737360"/>
          </a:xfrm>
          <a:prstGeom prst="rect">
            <a:avLst/>
          </a:prstGeom>
          <a:solidFill>
            <a:srgbClr val="22223E"/>
          </a:solidFill>
          <a:ln w="250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64408" y="914400"/>
            <a:ext cx="2743200" cy="9000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44408" y="929400"/>
            <a:ext cx="220000" cy="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Times New Roman"/>
              </a:rPr>
              <a:t>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74408" y="934400"/>
            <a:ext cx="2383200" cy="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Times New Roman"/>
              </a:rPr>
              <a:t>Count-bypass  ·  Stage 3b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24408" y="1044400"/>
            <a:ext cx="2623200" cy="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Times New Roman"/>
              </a:rPr>
              <a:t>Счётные вопросы («exactly N») не проходят 80%-порог фильтрации на val-изображениях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24408" y="1684400"/>
            <a:ext cx="26232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E8A020"/>
                </a:solidFill>
                <a:latin typeface="Times New Roman"/>
              </a:rPr>
              <a:t>→ VLM систематически ошибается в счёте → без bypass теряются ключевые вопросы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17336" y="914400"/>
            <a:ext cx="2743200" cy="1737360"/>
          </a:xfrm>
          <a:prstGeom prst="rect">
            <a:avLst/>
          </a:prstGeom>
          <a:solidFill>
            <a:srgbClr val="22223E"/>
          </a:solidFill>
          <a:ln w="25000">
            <a:solidFill>
              <a:srgbClr val="D35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17336" y="914400"/>
            <a:ext cx="2743200" cy="90000"/>
          </a:xfrm>
          <a:prstGeom prst="rect">
            <a:avLst/>
          </a:prstGeom>
          <a:solidFill>
            <a:srgbClr val="D3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97336" y="929400"/>
            <a:ext cx="220000" cy="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Times New Roman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7336" y="934400"/>
            <a:ext cx="2383200" cy="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Times New Roman"/>
              </a:rPr>
              <a:t>Stem-matching  ·  Stage 3b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7336" y="1044400"/>
            <a:ext cx="2623200" cy="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Times New Roman"/>
              </a:rPr>
              <a:t>Лемматизация при парсинге ответа: «almonds»→«almond», «tangerines»→«tangerine»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7336" y="1684400"/>
            <a:ext cx="26232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E8A020"/>
                </a:solidFill>
                <a:latin typeface="Times New Roman"/>
              </a:rPr>
              <a:t>→ Устраняет грамматические ложные отклонения при поиске Yes/No-токена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792224" y="2788920"/>
            <a:ext cx="2743200" cy="1737360"/>
          </a:xfrm>
          <a:prstGeom prst="rect">
            <a:avLst/>
          </a:prstGeom>
          <a:solidFill>
            <a:srgbClr val="22223E"/>
          </a:solidFill>
          <a:ln w="25000">
            <a:solidFill>
              <a:srgbClr val="276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792224" y="2788920"/>
            <a:ext cx="2743200" cy="90000"/>
          </a:xfrm>
          <a:prstGeom prst="rect">
            <a:avLst/>
          </a:prstGeom>
          <a:solidFill>
            <a:srgbClr val="276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872224" y="2803920"/>
            <a:ext cx="220000" cy="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Times New Roman"/>
              </a:rPr>
              <a:t>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2224" y="2808920"/>
            <a:ext cx="2383200" cy="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Times New Roman"/>
              </a:rPr>
              <a:t>Sub-Q аугментация ×4  ·  Stage 3c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52224" y="2918920"/>
            <a:ext cx="2623200" cy="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Times New Roman"/>
              </a:rPr>
              <a:t>Каждый вопрос перефразируется в 4 варианта; финальный ответ — majority vote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52224" y="3558920"/>
            <a:ext cx="26232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E8A020"/>
                </a:solidFill>
                <a:latin typeface="Times New Roman"/>
              </a:rPr>
              <a:t>→ +0.03–0.05 AUROC; устойчивость к поверхностным лингвистическим вариациям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45152" y="2788920"/>
            <a:ext cx="2743200" cy="1737360"/>
          </a:xfrm>
          <a:prstGeom prst="rect">
            <a:avLst/>
          </a:prstGeom>
          <a:solidFill>
            <a:srgbClr val="22223E"/>
          </a:solidFill>
          <a:ln w="25000">
            <a:solidFill>
              <a:srgbClr val="1A6E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645152" y="2788920"/>
            <a:ext cx="2743200" cy="90000"/>
          </a:xfrm>
          <a:prstGeom prst="rect">
            <a:avLst/>
          </a:prstGeom>
          <a:solidFill>
            <a:srgbClr val="1A6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25152" y="2803920"/>
            <a:ext cx="220000" cy="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Times New Roman"/>
              </a:rPr>
              <a:t>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55152" y="2808920"/>
            <a:ext cx="2383200" cy="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Times New Roman"/>
              </a:rPr>
              <a:t>min_failures = 2  ·  Stage 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05152" y="2918920"/>
            <a:ext cx="2623200" cy="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Times New Roman"/>
              </a:rPr>
              <a:t>Аномалия: ≥ 2 основных вопроса получили «No» (вместо порога = 1)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05152" y="3558920"/>
            <a:ext cx="26232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E8A020"/>
                </a:solidFill>
                <a:latin typeface="Times New Roman"/>
              </a:rPr>
              <a:t>→ FP: 22 → 12 — отсекаем одиночные галлюцинации при несогласии вопросов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8321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Times New Roman"/>
              </a:rPr>
              <a:t>Обоснование выбора метрик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777240"/>
            <a:ext cx="8321040" cy="40000"/>
          </a:xfrm>
          <a:prstGeom prst="rect">
            <a:avLst/>
          </a:prstGeom>
          <a:solidFill>
            <a:srgbClr val="4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841248"/>
            <a:ext cx="8321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5A5A6"/>
                </a:solidFill>
                <a:latin typeface="Times New Roman"/>
              </a:rPr>
              <a:t>Каждая метрика мотивирована внешней работой — не выбрана произвольно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88720"/>
            <a:ext cx="60000" cy="730000"/>
          </a:xfrm>
          <a:prstGeom prst="rect">
            <a:avLst/>
          </a:prstGeom>
          <a:solidFill>
            <a:srgbClr val="4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338720"/>
            <a:ext cx="420000" cy="350000"/>
          </a:xfrm>
          <a:prstGeom prst="rect">
            <a:avLst/>
          </a:prstGeom>
          <a:solidFill>
            <a:srgbClr val="4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L1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228720"/>
            <a:ext cx="201168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Times New Roman"/>
              </a:rPr>
              <a:t>CLIPScore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618720"/>
            <a:ext cx="201168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A86C8"/>
                </a:solidFill>
                <a:latin typeface="Times New Roman"/>
              </a:rPr>
              <a:t>CLIP ViT-B/32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1228720"/>
            <a:ext cx="32004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A020"/>
                </a:solidFill>
                <a:latin typeface="Times New Roman"/>
              </a:rPr>
              <a:t>[Hessel et al., EMNLP 2021]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1618720"/>
            <a:ext cx="54864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Times New Roman"/>
              </a:rPr>
              <a:t>Reference-free метрика семантического сходства текст–изображение; широко принята как стандарт оценки качества описаний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1923720"/>
            <a:ext cx="8321040" cy="18000"/>
          </a:xfrm>
          <a:prstGeom prst="rect">
            <a:avLst/>
          </a:prstGeom>
          <a:solidFill>
            <a:srgbClr val="3A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1948720"/>
            <a:ext cx="60000" cy="730000"/>
          </a:xfrm>
          <a:prstGeom prst="rect">
            <a:avLst/>
          </a:prstGeom>
          <a:solidFill>
            <a:srgbClr val="16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098720"/>
            <a:ext cx="420000" cy="350000"/>
          </a:xfrm>
          <a:prstGeom prst="rect">
            <a:avLst/>
          </a:prstGeom>
          <a:solidFill>
            <a:srgbClr val="16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L1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1988720"/>
            <a:ext cx="201168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Times New Roman"/>
              </a:rPr>
              <a:t>CCR  (LLM-as-Judge)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378720"/>
            <a:ext cx="201168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167A8A"/>
                </a:solidFill>
                <a:latin typeface="Times New Roman"/>
              </a:rPr>
              <a:t>MT-Bench · Prometheus-Vision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1988720"/>
            <a:ext cx="32004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A020"/>
                </a:solidFill>
                <a:latin typeface="Times New Roman"/>
              </a:rPr>
              <a:t>[Zheng et al., NeurIPS 2023]  [Lee et al., ACL 2024]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2378720"/>
            <a:ext cx="54864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Times New Roman"/>
              </a:rPr>
              <a:t>VLM-as-Judge коррелирует с оценками людей лучше, чем text-match метрики; Prometheus-Vision — наивысшая корреляция Пирсона среди open-source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2683720"/>
            <a:ext cx="8321040" cy="18000"/>
          </a:xfrm>
          <a:prstGeom prst="rect">
            <a:avLst/>
          </a:prstGeom>
          <a:solidFill>
            <a:srgbClr val="3A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1480" y="2708720"/>
            <a:ext cx="60000" cy="73000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2858720"/>
            <a:ext cx="420000" cy="35000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L2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2748720"/>
            <a:ext cx="201168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Times New Roman"/>
              </a:rPr>
              <a:t>MACE · SRA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3138720"/>
            <a:ext cx="201168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E44AD"/>
                </a:solidFill>
                <a:latin typeface="Times New Roman"/>
              </a:rPr>
              <a:t>What's 'up' · VALOR-EVAL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40" y="2748720"/>
            <a:ext cx="32004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A020"/>
                </a:solidFill>
                <a:latin typeface="Times New Roman"/>
              </a:rPr>
              <a:t>[Kamath et al., EMNLP 2023]  [Dou &amp; Peng, ACL 2024]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91840" y="3138720"/>
            <a:ext cx="54864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Times New Roman"/>
              </a:rPr>
              <a:t>VLM достигают 56% точности на пространственных задачах vs 99% людей; VALOR-EVAL показал: объектных метрик недостаточно, нужны атрибуты и отношения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3443720"/>
            <a:ext cx="8321040" cy="18000"/>
          </a:xfrm>
          <a:prstGeom prst="rect">
            <a:avLst/>
          </a:prstGeom>
          <a:solidFill>
            <a:srgbClr val="3A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11480" y="3468720"/>
            <a:ext cx="60000" cy="730000"/>
          </a:xfrm>
          <a:prstGeom prst="rect">
            <a:avLst/>
          </a:prstGeom>
          <a:solidFill>
            <a:srgbClr val="D3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3618720"/>
            <a:ext cx="420000" cy="350000"/>
          </a:xfrm>
          <a:prstGeom prst="rect">
            <a:avLst/>
          </a:prstGeom>
          <a:solidFill>
            <a:srgbClr val="D3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L1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3508720"/>
            <a:ext cx="201168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Times New Roman"/>
              </a:rPr>
              <a:t>FaithScore / CCR-atomic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" y="3898720"/>
            <a:ext cx="201168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D35400"/>
                </a:solidFill>
                <a:latin typeface="Times New Roman"/>
              </a:rPr>
              <a:t>FaithScore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91840" y="3508720"/>
            <a:ext cx="32004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A020"/>
                </a:solidFill>
                <a:latin typeface="Times New Roman"/>
              </a:rPr>
              <a:t>[Jing et al., arXiv 2023]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91840" y="3898720"/>
            <a:ext cx="54864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Times New Roman"/>
              </a:rPr>
              <a:t>Атомарная верификация фактов без эталона коррелирует с оценками людей — обосновывает подход «одно ограничение = один вопрос судье»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" y="4203720"/>
            <a:ext cx="8321040" cy="18000"/>
          </a:xfrm>
          <a:prstGeom prst="rect">
            <a:avLst/>
          </a:prstGeom>
          <a:solidFill>
            <a:srgbClr val="3A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11480" y="4228720"/>
            <a:ext cx="60000" cy="730000"/>
          </a:xfrm>
          <a:prstGeom prst="rect">
            <a:avLst/>
          </a:prstGeom>
          <a:solidFill>
            <a:srgbClr val="276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8640" y="4378720"/>
            <a:ext cx="420000" cy="350000"/>
          </a:xfrm>
          <a:prstGeom prst="rect">
            <a:avLst/>
          </a:prstGeom>
          <a:solidFill>
            <a:srgbClr val="276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L3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43000" y="4268720"/>
            <a:ext cx="201168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Times New Roman"/>
              </a:rPr>
              <a:t>Sub-Q Consistency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3000" y="4658720"/>
            <a:ext cx="201168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276E2E"/>
                </a:solidFill>
                <a:latin typeface="Times New Roman"/>
              </a:rPr>
              <a:t>Uncertainty VLMs · POPE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91840" y="4268720"/>
            <a:ext cx="32004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A020"/>
                </a:solidFill>
                <a:latin typeface="Times New Roman"/>
              </a:rPr>
              <a:t>[Kostumov et al., arXiv 2024]  [Li et al., EMNLP 2023]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91840" y="4658720"/>
            <a:ext cx="54864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Times New Roman"/>
              </a:rPr>
              <a:t>Точность VLM не согласована с неопределённостью; POPE: VLM склонны отвечать «Yes» — majority vote по перефразировкам выявляет нестабильные ответы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8321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Times New Roman"/>
              </a:rPr>
              <a:t>Улучшение G: inline Chain-of-Thought (RC4-A)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777240"/>
            <a:ext cx="8321040" cy="40000"/>
          </a:xfrm>
          <a:prstGeom prst="rect">
            <a:avLst/>
          </a:prstGeom>
          <a:solidFill>
            <a:srgbClr val="4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6012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0392B"/>
                </a:solidFill>
                <a:latin typeface="Times New Roman"/>
              </a:rPr>
              <a:t>Без CoT (r23):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325880"/>
            <a:ext cx="3840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  <a:latin typeface="Courier New"/>
              </a:rPr>
              <a:t>Is there exactly 2 tangerines?
Answer: Yes / 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0574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0392B"/>
                </a:solidFill>
                <a:latin typeface="Times New Roman"/>
              </a:rPr>
              <a:t>→ модель угадывает на основе статистических ожиданий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15544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8A020"/>
                </a:solidFill>
                <a:latin typeface="Times New Roman"/>
              </a:rPr>
              <a:t>RC4-A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182880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4A86C8"/>
                </a:solidFill>
                <a:latin typeface="Times New Roman"/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96012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7AE60"/>
                </a:solidFill>
                <a:latin typeface="Times New Roman"/>
              </a:rPr>
              <a:t>С CoT (r25):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1325880"/>
            <a:ext cx="38404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Courier New"/>
              </a:rPr>
              <a:t>Step 1 - Observe:
  Describe what you see about tangerines.
Step 2 - Conclude:
  Is there exactly 2? Result: Yes / No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25603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5A5A6"/>
                </a:solidFill>
                <a:latin typeface="Times New Roman"/>
              </a:rPr>
              <a:t>+ majority vote по 4 перефразировкам вопроса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2788920"/>
            <a:ext cx="2560320" cy="5943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Times New Roman"/>
              </a:rPr>
              <a:t>FP: 12 → 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54680" y="2788920"/>
            <a:ext cx="2834640" cy="594360"/>
          </a:xfrm>
          <a:prstGeom prst="rect">
            <a:avLst/>
          </a:prstGeom>
          <a:solidFill>
            <a:srgbClr val="1A6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Times New Roman"/>
              </a:rPr>
              <a:t>AUROC: 0.782 → 0.852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2788920"/>
            <a:ext cx="2743200" cy="594360"/>
          </a:xfrm>
          <a:prstGeom prst="rect">
            <a:avLst/>
          </a:prstGeom>
          <a:solidFill>
            <a:srgbClr val="1A6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Times New Roman"/>
              </a:rPr>
              <a:t>F1-max: 0.746 → 0.818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3566160"/>
            <a:ext cx="8321040" cy="1371600"/>
          </a:xfrm>
          <a:prstGeom prst="rect">
            <a:avLst/>
          </a:prstGeom>
          <a:solidFill>
            <a:srgbClr val="1A3A5C"/>
          </a:solidFill>
          <a:ln w="20000">
            <a:solidFill>
              <a:srgbClr val="4A8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E8A020"/>
                </a:solidFill>
                <a:latin typeface="Times New Roman"/>
              </a:rPr>
              <a:t>Механизм: </a:t>
            </a:r>
            <a:r>
              <a:rPr sz="1500">
                <a:solidFill>
                  <a:srgbClr val="FFFFFF"/>
                </a:solidFill>
                <a:latin typeface="Times New Roman"/>
              </a:rPr>
              <a:t>ложноположительный ответ потребовал бы сформулировать несуществующее нарушение. Step 1 Observe создаёт верифицируемую посылку — модель не может соврать, не описав реального нарушения. Yes-bias (POPE, 2023) полностью устранён.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8321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Times New Roman"/>
              </a:rPr>
              <a:t>Прогрессия результатов: baseline → r25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777240"/>
            <a:ext cx="8321040" cy="40000"/>
          </a:xfrm>
          <a:prstGeom prst="rect">
            <a:avLst/>
          </a:prstGeom>
          <a:solidFill>
            <a:srgbClr val="4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0"/>
            <a:ext cx="8321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5A5A6"/>
                </a:solidFill>
                <a:latin typeface="Times New Roman"/>
              </a:rPr>
              <a:t>breakfast_box · 50 тестовых изображений (25 good + 25 anomaly)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1234440"/>
          <a:ext cx="8321039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777240"/>
                <a:gridCol w="777240"/>
                <a:gridCol w="594360"/>
                <a:gridCol w="594360"/>
                <a:gridCol w="3749039"/>
              </a:tblGrid>
              <a:tr h="43434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Запуск</a:t>
                      </a:r>
                    </a:p>
                  </a:txBody>
                  <a:tcPr>
                    <a:solidFill>
                      <a:srgbClr val="4A86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AUROC</a:t>
                      </a:r>
                    </a:p>
                  </a:txBody>
                  <a:tcPr>
                    <a:solidFill>
                      <a:srgbClr val="4A86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F1-max</a:t>
                      </a:r>
                    </a:p>
                  </a:txBody>
                  <a:tcPr>
                    <a:solidFill>
                      <a:srgbClr val="4A86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FP</a:t>
                      </a:r>
                    </a:p>
                  </a:txBody>
                  <a:tcPr>
                    <a:solidFill>
                      <a:srgbClr val="4A86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FN</a:t>
                      </a:r>
                    </a:p>
                  </a:txBody>
                  <a:tcPr>
                    <a:solidFill>
                      <a:srgbClr val="4A86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Ключевое</a:t>
                      </a:r>
                    </a:p>
                  </a:txBody>
                  <a:tcPr>
                    <a:solidFill>
                      <a:srgbClr val="4A86C8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Times New Roman"/>
                        </a:rPr>
                        <a:t>Baseline (avg 5 cls)</a:t>
                      </a:r>
                    </a:p>
                  </a:txBody>
                  <a:tcPr>
                    <a:solidFill>
                      <a:srgbClr val="2525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Times New Roman"/>
                        </a:rPr>
                        <a:t>0.527</a:t>
                      </a:r>
                    </a:p>
                  </a:txBody>
                  <a:tcPr>
                    <a:solidFill>
                      <a:srgbClr val="2525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Times New Roman"/>
                        </a:rPr>
                        <a:t>0.655</a:t>
                      </a:r>
                    </a:p>
                  </a:txBody>
                  <a:tcPr>
                    <a:solidFill>
                      <a:srgbClr val="2525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Times New Roman"/>
                        </a:rPr>
                        <a:t>—</a:t>
                      </a:r>
                    </a:p>
                  </a:txBody>
                  <a:tcPr>
                    <a:solidFill>
                      <a:srgbClr val="2525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Times New Roman"/>
                        </a:rPr>
                        <a:t>—</a:t>
                      </a:r>
                    </a:p>
                  </a:txBody>
                  <a:tcPr>
                    <a:solidFill>
                      <a:srgbClr val="2525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FFFFF"/>
                          </a:solidFill>
                          <a:latin typeface="Times New Roman"/>
                        </a:rPr>
                        <a:t>Монолитный, без CoT</a:t>
                      </a:r>
                    </a:p>
                  </a:txBody>
                  <a:tcPr>
                    <a:solidFill>
                      <a:srgbClr val="25253D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Times New Roman"/>
                        </a:rPr>
                        <a:t>r18 (decomposed start)</a:t>
                      </a:r>
                    </a:p>
                  </a:txBody>
                  <a:tcPr>
                    <a:solidFill>
                      <a:srgbClr val="2E2E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Times New Roman"/>
                        </a:rPr>
                        <a:t>0.521</a:t>
                      </a:r>
                    </a:p>
                  </a:txBody>
                  <a:tcPr>
                    <a:solidFill>
                      <a:srgbClr val="2E2E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Times New Roman"/>
                        </a:rPr>
                        <a:t>0.667</a:t>
                      </a:r>
                    </a:p>
                  </a:txBody>
                  <a:tcPr>
                    <a:solidFill>
                      <a:srgbClr val="2E2E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>
                    <a:solidFill>
                      <a:srgbClr val="2E2E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Times New Roman"/>
                        </a:rPr>
                        <a:t>23</a:t>
                      </a:r>
                    </a:p>
                  </a:txBody>
                  <a:tcPr>
                    <a:solidFill>
                      <a:srgbClr val="2E2E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FFFFF"/>
                          </a:solidFill>
                          <a:latin typeface="Times New Roman"/>
                        </a:rPr>
                        <a:t>Декомпозиция (нестабильна)</a:t>
                      </a:r>
                    </a:p>
                  </a:txBody>
                  <a:tcPr>
                    <a:solidFill>
                      <a:srgbClr val="2E2E4A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Times New Roman"/>
                        </a:rPr>
                        <a:t>r21 (NORMALITY fix)</a:t>
                      </a:r>
                    </a:p>
                  </a:txBody>
                  <a:tcPr>
                    <a:solidFill>
                      <a:srgbClr val="2E2E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Times New Roman"/>
                        </a:rPr>
                        <a:t>0.500</a:t>
                      </a:r>
                    </a:p>
                  </a:txBody>
                  <a:tcPr>
                    <a:solidFill>
                      <a:srgbClr val="2E2E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Times New Roman"/>
                        </a:rPr>
                        <a:t>0.667</a:t>
                      </a:r>
                    </a:p>
                  </a:txBody>
                  <a:tcPr>
                    <a:solidFill>
                      <a:srgbClr val="2E2E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>
                    <a:solidFill>
                      <a:srgbClr val="2E2E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Times New Roman"/>
                        </a:rPr>
                        <a:t>25</a:t>
                      </a:r>
                    </a:p>
                  </a:txBody>
                  <a:tcPr>
                    <a:solidFill>
                      <a:srgbClr val="2E2E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FFFFF"/>
                          </a:solidFill>
                          <a:latin typeface="Times New Roman"/>
                        </a:rPr>
                        <a:t>Регрессия промптов</a:t>
                      </a:r>
                    </a:p>
                  </a:txBody>
                  <a:tcPr>
                    <a:solidFill>
                      <a:srgbClr val="2E2E4A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Times New Roman"/>
                        </a:rPr>
                        <a:t>r23 (fixes 3b/3c/4)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Times New Roman"/>
                        </a:rPr>
                        <a:t>0.782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Times New Roman"/>
                        </a:rPr>
                        <a:t>0.746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Times New Roman"/>
                        </a:rPr>
                        <a:t>12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  <a:latin typeface="Times New Roman"/>
                        </a:rPr>
                        <a:t>3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FFFFF"/>
                          </a:solidFill>
                          <a:latin typeface="Times New Roman"/>
                        </a:rPr>
                        <a:t>Исправление Stage 3b/4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r25 ★ RC4-A CoT</a:t>
                      </a:r>
                    </a:p>
                  </a:txBody>
                  <a:tcPr>
                    <a:solidFill>
                      <a:srgbClr val="1A5C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0.852</a:t>
                      </a:r>
                    </a:p>
                  </a:txBody>
                  <a:tcPr>
                    <a:solidFill>
                      <a:srgbClr val="1A5C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0.818</a:t>
                      </a:r>
                    </a:p>
                  </a:txBody>
                  <a:tcPr>
                    <a:solidFill>
                      <a:srgbClr val="1A5C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>
                    <a:solidFill>
                      <a:srgbClr val="1A5C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10</a:t>
                      </a:r>
                    </a:p>
                  </a:txBody>
                  <a:tcPr>
                    <a:solidFill>
                      <a:srgbClr val="1A5C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inline CoT · FP=0</a:t>
                      </a:r>
                    </a:p>
                  </a:txBody>
                  <a:tcPr>
                    <a:solidFill>
                      <a:srgbClr val="1A5C2A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11480" y="3977639"/>
            <a:ext cx="2286000" cy="6400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Times New Roman"/>
              </a:rPr>
              <a:t>AUROC = 0.852</a:t>
            </a:r>
          </a:p>
        </p:txBody>
      </p:sp>
      <p:sp>
        <p:nvSpPr>
          <p:cNvPr id="7" name="Rectangle 6"/>
          <p:cNvSpPr/>
          <p:nvPr/>
        </p:nvSpPr>
        <p:spPr>
          <a:xfrm>
            <a:off x="2880360" y="3977639"/>
            <a:ext cx="1371600" cy="6400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Times New Roman"/>
              </a:rPr>
              <a:t>FP = 0</a:t>
            </a:r>
          </a:p>
        </p:txBody>
      </p:sp>
      <p:sp>
        <p:nvSpPr>
          <p:cNvPr id="8" name="Rectangle 7"/>
          <p:cNvSpPr/>
          <p:nvPr/>
        </p:nvSpPr>
        <p:spPr>
          <a:xfrm>
            <a:off x="4434840" y="3977639"/>
            <a:ext cx="1828800" cy="6400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Times New Roman"/>
              </a:rPr>
              <a:t>CCR = 100%</a:t>
            </a:r>
          </a:p>
        </p:txBody>
      </p:sp>
      <p:sp>
        <p:nvSpPr>
          <p:cNvPr id="9" name="Rectangle 8"/>
          <p:cNvSpPr/>
          <p:nvPr/>
        </p:nvSpPr>
        <p:spPr>
          <a:xfrm>
            <a:off x="6446520" y="3977639"/>
            <a:ext cx="2286000" cy="640080"/>
          </a:xfrm>
          <a:prstGeom prst="rect">
            <a:avLst/>
          </a:prstGeom>
          <a:solidFill>
            <a:srgbClr val="1A6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≈ GPT-4o · 0 руб./запрос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8321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Times New Roman"/>
              </a:rPr>
              <a:t>Иерархическая система оценки L1–L4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777240"/>
            <a:ext cx="8321040" cy="40000"/>
          </a:xfrm>
          <a:prstGeom prst="rect">
            <a:avLst/>
          </a:prstGeom>
          <a:solidFill>
            <a:srgbClr val="4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868680"/>
            <a:ext cx="8321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5A5A6"/>
                </a:solidFill>
                <a:latin typeface="Times New Roman"/>
              </a:rPr>
              <a:t>Зачем: AUROC не показывает, на каком этапе пайплайна возникает ошибка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234440"/>
            <a:ext cx="109728" cy="594360"/>
          </a:xfrm>
          <a:prstGeom prst="rect">
            <a:avLst/>
          </a:prstGeom>
          <a:solidFill>
            <a:srgbClr val="4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344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A86C8"/>
                </a:solidFill>
                <a:latin typeface="Times New Roman"/>
              </a:rPr>
              <a:t>L1  Восприятие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4600" y="12344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Times New Roman"/>
              </a:rPr>
              <a:t>CLIPScore = 69.7%   ·   CCR = 100%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06440" y="12344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5A5A6"/>
                </a:solidFill>
                <a:latin typeface="Times New Roman"/>
              </a:rPr>
              <a:t>Описание семантически верное и полное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892808"/>
            <a:ext cx="8321040" cy="15000"/>
          </a:xfrm>
          <a:prstGeom prst="rect">
            <a:avLst/>
          </a:prstGeom>
          <a:solidFill>
            <a:srgbClr val="3A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1984248"/>
            <a:ext cx="109728" cy="59436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98424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E44AD"/>
                </a:solidFill>
                <a:latin typeface="Times New Roman"/>
              </a:rPr>
              <a:t>L2  Атрибуты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600" y="198424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Times New Roman"/>
              </a:rPr>
              <a:t>MACE = 0.24   ·   SRA = 64.3%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06440" y="1984248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5A5A6"/>
                </a:solidFill>
                <a:latin typeface="Times New Roman"/>
              </a:rPr>
              <a:t>Счёт точен · пространственные отношения — системная слабость 8B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2642616"/>
            <a:ext cx="8321040" cy="15000"/>
          </a:xfrm>
          <a:prstGeom prst="rect">
            <a:avLst/>
          </a:prstGeom>
          <a:solidFill>
            <a:srgbClr val="3A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" y="2734056"/>
            <a:ext cx="109728" cy="594360"/>
          </a:xfrm>
          <a:prstGeom prst="rect">
            <a:avLst/>
          </a:prstGeom>
          <a:solidFill>
            <a:srgbClr val="16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273405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67A8A"/>
                </a:solidFill>
                <a:latin typeface="Times New Roman"/>
              </a:rPr>
              <a:t>L2.5  Фильтрация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14600" y="273405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Times New Roman"/>
              </a:rPr>
              <a:t>Precision = 21%   ·   Recall = 63%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06440" y="2734056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5A5A6"/>
                </a:solidFill>
                <a:latin typeface="Times New Roman"/>
              </a:rPr>
              <a:t>Ограничение Qwen2.5-3B-судьи: не различает перефразировки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3392424"/>
            <a:ext cx="8321040" cy="15000"/>
          </a:xfrm>
          <a:prstGeom prst="rect">
            <a:avLst/>
          </a:prstGeom>
          <a:solidFill>
            <a:srgbClr val="3A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1480" y="3483864"/>
            <a:ext cx="109728" cy="594360"/>
          </a:xfrm>
          <a:prstGeom prst="rect">
            <a:avLst/>
          </a:prstGeom>
          <a:solidFill>
            <a:srgbClr val="D3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348386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35400"/>
                </a:solidFill>
                <a:latin typeface="Times New Roman"/>
              </a:rPr>
              <a:t>L3  Рассуждение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14600" y="348386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Times New Roman"/>
              </a:rPr>
              <a:t>Sub-Q Consistency = 70.5%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06440" y="3483864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5A5A6"/>
                </a:solidFill>
                <a:latin typeface="Times New Roman"/>
              </a:rPr>
              <a:t>Умеренная стабильность — VLM неуверена (Kostumov et al. 2024)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4142232"/>
            <a:ext cx="8321040" cy="15000"/>
          </a:xfrm>
          <a:prstGeom prst="rect">
            <a:avLst/>
          </a:prstGeom>
          <a:solidFill>
            <a:srgbClr val="3A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1480" y="4233672"/>
            <a:ext cx="109728" cy="5943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423367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7AE60"/>
                </a:solidFill>
                <a:latin typeface="Times New Roman"/>
              </a:rPr>
              <a:t>L4  Задача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14600" y="423367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Times New Roman"/>
              </a:rPr>
              <a:t>AUROC = 0.852   ·   F1-max = 0.818   ·   FP = 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06440" y="4233672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5A5A6"/>
                </a:solidFill>
                <a:latin typeface="Times New Roman"/>
              </a:rPr>
              <a:t>Лучший результат достигнут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80000"/>
          </a:xfrm>
          <a:prstGeom prst="rect">
            <a:avLst/>
          </a:prstGeom>
          <a:solidFill>
            <a:srgbClr val="4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321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Times New Roman"/>
              </a:rPr>
              <a:t>Заключение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8321040" cy="40000"/>
          </a:xfrm>
          <a:prstGeom prst="rect">
            <a:avLst/>
          </a:prstGeom>
          <a:solidFill>
            <a:srgbClr val="4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1188720"/>
            <a:ext cx="457200" cy="640080"/>
          </a:xfrm>
          <a:prstGeom prst="rect">
            <a:avLst/>
          </a:prstGeom>
          <a:solidFill>
            <a:srgbClr val="4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18872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8A020"/>
                </a:solidFill>
                <a:latin typeface="Times New Roman"/>
              </a:rPr>
              <a:t>AUROC 0.527 → 0.852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536192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5A5A6"/>
                </a:solidFill>
                <a:latin typeface="Times New Roman"/>
              </a:rPr>
              <a:t>open-source модель на одном GPU · без API · воспроизводимо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2194560"/>
            <a:ext cx="457200" cy="640080"/>
          </a:xfrm>
          <a:prstGeom prst="rect">
            <a:avLst/>
          </a:prstGeom>
          <a:solidFill>
            <a:srgbClr val="4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19456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8A020"/>
                </a:solidFill>
                <a:latin typeface="Times New Roman"/>
              </a:rPr>
              <a:t>FP = 0  ·  CCR = 100%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542032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5A5A6"/>
                </a:solidFill>
                <a:latin typeface="Times New Roman"/>
              </a:rPr>
              <a:t>RC4-A CoT + per-component Stage 1 решают разные проблемы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3200400"/>
            <a:ext cx="457200" cy="640080"/>
          </a:xfrm>
          <a:prstGeom prst="rect">
            <a:avLst/>
          </a:prstGeom>
          <a:solidFill>
            <a:srgbClr val="4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20040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8A020"/>
                </a:solidFill>
                <a:latin typeface="Times New Roman"/>
              </a:rPr>
              <a:t>FN = 10 → пространство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547872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5A5A6"/>
                </a:solidFill>
                <a:latin typeface="Times New Roman"/>
              </a:rPr>
              <a:t>системная слабость VLM-8B (56% vs 99% люди, Kamath 2023)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4114800"/>
            <a:ext cx="8321040" cy="731520"/>
          </a:xfrm>
          <a:prstGeom prst="rect">
            <a:avLst/>
          </a:prstGeom>
          <a:solidFill>
            <a:srgbClr val="1A3A5C"/>
          </a:solidFill>
          <a:ln w="30000">
            <a:solidFill>
              <a:srgbClr val="E8A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E8A020"/>
                </a:solidFill>
                <a:latin typeface="Times New Roman"/>
              </a:rPr>
              <a:t>Следующий шаг: </a:t>
            </a:r>
            <a:r>
              <a:rPr sz="1500">
                <a:solidFill>
                  <a:srgbClr val="FFFFFF"/>
                </a:solidFill>
                <a:latin typeface="Times New Roman"/>
              </a:rPr>
              <a:t>InternVL2.5-38B-AWQ для пространственных аномалий · все 5 классов MVTec LOCO AD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5023500"/>
            <a:ext cx="9144000" cy="120000"/>
          </a:xfrm>
          <a:prstGeom prst="rect">
            <a:avLst/>
          </a:prstGeom>
          <a:solidFill>
            <a:srgbClr val="4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