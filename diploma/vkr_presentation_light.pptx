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A6A"/>
                </a:solidFill>
                <a:latin typeface="Times New Roman"/>
              </a:rPr>
              <a:t>МОСКОВСКИЙ ФИЗИКО-ТЕХНИЧЕСКИЙ ИНСТИТУТ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8182E"/>
                </a:solidFill>
                <a:latin typeface="Times New Roman"/>
              </a:rPr>
              <a:t>Улучшения фреймворка обнаружения
логических аномалий и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A6A"/>
                </a:solidFill>
                <a:latin typeface="Times New Roman"/>
              </a:rPr>
              <a:t>Training-free VLM-пайплайн на основе LogicQA · InternVL2.5-8B · MVTec LOCO 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38328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A020"/>
                </a:solidFill>
                <a:latin typeface="Times New Roman"/>
              </a:rPr>
              <a:t>Д. А. Сахаров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6A"/>
                </a:solidFill>
                <a:latin typeface="Times New Roman"/>
              </a:rPr>
              <a:t>Научный руководитель: Копылов И.С.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A6A"/>
                </a:solidFill>
                <a:latin typeface="Times New Roman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23500"/>
            <a:ext cx="9144000" cy="12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Проблема: логические аномалии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86C8"/>
                </a:solidFill>
                <a:latin typeface="Times New Roman"/>
              </a:rPr>
              <a:t>Структурная аномалия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Царапина, трещина, загрязнение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Локальный дефект пикселей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PatchCore, DRAEM → AUROC &gt; 0.95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20"/>
                </a:solidFill>
                <a:latin typeface="Times New Roman"/>
              </a:rPr>
              <a:t>Логическая аномалия  ← наша задача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Нарушение правил комплектации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Каждый пиксель нормален — дефект только в смысле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«2 мандарина» вместо «1» → все методы слепы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5A6A"/>
                </a:solidFill>
                <a:latin typeface="Times New Roman"/>
              </a:rPr>
              <a:t>VS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29000"/>
            <a:ext cx="8321040" cy="1371600"/>
          </a:xfrm>
          <a:prstGeom prst="rect">
            <a:avLst/>
          </a:prstGeom>
          <a:solidFill>
            <a:srgbClr val="E0ECF8"/>
          </a:solidFill>
          <a:ln w="25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4A5A6A"/>
                </a:solidFill>
                <a:latin typeface="Times New Roman"/>
              </a:rPr>
              <a:t>Единственный подход, способный работать с логическими аномалиями:</a:t>
            </a:r>
          </a:p>
          <a:p>
            <a:pPr algn="l"/>
            <a:r>
              <a:rPr sz="1700" b="1">
                <a:solidFill>
                  <a:srgbClr val="18182E"/>
                </a:solidFill>
                <a:latin typeface="Times New Roman"/>
              </a:rPr>
              <a:t>визуально-языковая модель как рассуждающий агент — формирует и проверяет семантические ограничения нормальности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Исходная точка: воспроизведение LogicQA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InternVL2.5-8B · n_shots=3 · монолитный Stage 1 · без CoT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8016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Класс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F1-max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TP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FN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breakfast_box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0.589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0.619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90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83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juice_bottle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0.537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0.751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109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pushpins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0.543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0.569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screw_bag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0.484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0.692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73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146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splicing_connectors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0.481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0.645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160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33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AVG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0.655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Times New Roman"/>
              </a:rPr>
              <a:t>GPT-4o (оригинал):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37360"/>
            <a:ext cx="2743200" cy="50292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AVG AUROC ≈ 0.876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Times New Roman"/>
              </a:rPr>
              <a:t>Наш baseline: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78892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AVG AUROC = 0.527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6908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020"/>
                </a:solidFill>
                <a:latin typeface="Times New Roman"/>
              </a:rPr>
              <a:t>Два корневых дефекта: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CC80"/>
                </a:solidFill>
                <a:latin typeface="Times New Roman"/>
              </a:rPr>
              <a:t>▸  Монолитное описание галлюцинирует и пропускает компоненты (CCR=63%)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CC80"/>
                </a:solidFill>
                <a:latin typeface="Times New Roman"/>
              </a:rPr>
              <a:t>▸  Модель отвечает «Yes» без реального анализа — yes-bias (FP=42)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Улучшение A: декомпозированный Stage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Times New Roman"/>
              </a:rPr>
              <a:t>Проблема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Один запрос на всё изображение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VLM «галлюцинирует» объекты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Упускает редкие компоненты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CCR baseline = 63.3%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645920"/>
            <a:ext cx="457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86C8"/>
                </a:solidFill>
                <a:latin typeface="Times New Roman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9601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Times New Roman"/>
              </a:rPr>
              <a:t>Решение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6 отдельных запросов по компонентам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tangerines / nectarine / muesli /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banana chips / almonds / yogurt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5 изображений × 6 = 30 VLM-вызовов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051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A6A"/>
                </a:solidFill>
                <a:latin typeface="Times New Roman"/>
              </a:rPr>
              <a:t>Результат: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417320"/>
            <a:ext cx="17830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CCR: 63% →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011680"/>
            <a:ext cx="1783080" cy="50292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MACE: 0.44 → 0.24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37560"/>
            <a:ext cx="8321040" cy="1554480"/>
          </a:xfrm>
          <a:prstGeom prst="rect">
            <a:avLst/>
          </a:prstGeom>
          <a:solidFill>
            <a:srgbClr val="E0ECF8"/>
          </a:solidFill>
          <a:ln w="20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Почему работает: </a:t>
            </a:r>
            <a:r>
              <a:rPr sz="1500">
                <a:solidFill>
                  <a:srgbClr val="18182E"/>
                </a:solidFill>
                <a:latin typeface="Times New Roman"/>
              </a:rPr>
              <a:t>при фокусированном запросе «опиши только отсек с мандаринами» VLM не может галлюцинировать другие объекты — внимание жёстко ограничено компонентом. Все нормативные ограничения попадают в итоговое описание.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Улучшения пайплайна B – F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16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743200" cy="9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1480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80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Hedge-filtering  ·  Stage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480" y="10444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Исключаем утверждения с «sometimes», «may», «appears to» из нормативного определения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480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Устойчивость нормативного определения к случайным наблюдениям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91440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914400"/>
            <a:ext cx="2743200" cy="9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4408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4408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Count-bypass  ·  Stage 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4408" y="10444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Счётные вопросы («exactly N») не проходят 80%-порог фильтрации на val-изображениях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408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VLM систематически ошибается в счёте → без bypass теряются ключевые вопросы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91440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914400"/>
            <a:ext cx="2743200" cy="9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7336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336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Stem-matching  ·  Stage 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7336" y="10444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Лемматизация при парсинге ответа: «almonds»→«almond», «tangerines»→«tangerine»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7336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Устраняет грамматические ложные отклонения при поиске Yes/No-токена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2224" y="278892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27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92224" y="2788920"/>
            <a:ext cx="2743200" cy="9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2224" y="280392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2224" y="280892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Sub-Q аугментация ×4  ·  Stage 3c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2224" y="291892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Каждый вопрос перефразируется в 4 варианта; финальный ответ — majority vote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2224" y="355892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+0.03–0.05 AUROC; устойчивость к поверхностным лингвистическим вариациям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78892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2788920"/>
            <a:ext cx="2743200" cy="9000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5152" y="280392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5152" y="280892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min_failures = 2  ·  Stage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152" y="291892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Аномалия: ≥ 2 основных вопроса получили «No» (вместо порога =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152" y="355892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FP: 22 → 12 — отсекаем одиночные галлюцинации при несогласии вопросов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Обоснование выбора метрик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Каждая метрика мотивирована внешней работой — не выбрана произвольно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60000" cy="73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38720"/>
            <a:ext cx="420000" cy="35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2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CLIPScore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1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86C8"/>
                </a:solidFill>
                <a:latin typeface="Times New Roman"/>
              </a:rPr>
              <a:t>CLIP ViT-B/32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2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[Hessel et al., EMNLP 2021]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1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Reference-free метрика семантического сходства текст–изображение; широко принята как стандарт оценки качества описаний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2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48720"/>
            <a:ext cx="60000" cy="73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98720"/>
            <a:ext cx="420000" cy="35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8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CCR  (LLM-as-Judge)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7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7A8A"/>
                </a:solidFill>
                <a:latin typeface="Times New Roman"/>
              </a:rPr>
              <a:t>MT-Bench · Prometheus-Vision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8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[Zheng et al., NeurIPS 2023]  [Lee et al., ACL 2024]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7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VLM-as-Judge коррелирует с оценками людей лучше, чем text-match метрики; Prometheus-Vision — наивысшая корреляция Пирсона среди open-source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8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708720"/>
            <a:ext cx="60000" cy="73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58720"/>
            <a:ext cx="420000" cy="35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74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MACE · SRA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13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44AD"/>
                </a:solidFill>
                <a:latin typeface="Times New Roman"/>
              </a:rPr>
              <a:t>What's 'up' · VALOR-EVAL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4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[Kamath et al., EMNLP 2023]  [Dou &amp; Peng, ACL 2024]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3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VLM достигают 56% точности на пространственных задачах vs 99% людей; VALOR-EVAL показал: объектных метрик недостаточно, нужны атрибуты и отношения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4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468720"/>
            <a:ext cx="60000" cy="73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618720"/>
            <a:ext cx="420000" cy="35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50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FaithScore / CCR-atomic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9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35400"/>
                </a:solidFill>
                <a:latin typeface="Times New Roman"/>
              </a:rPr>
              <a:t>FaithScore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0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[Jing et al., arXiv 2023]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89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Атомарная верификация фактов без эталона коррелирует с оценками людей — обосновывает подход «одно ограничение = один вопрос судье»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0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228720"/>
            <a:ext cx="60000" cy="73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378720"/>
            <a:ext cx="420000" cy="35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6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Sub-Q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5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6E2E"/>
                </a:solidFill>
                <a:latin typeface="Times New Roman"/>
              </a:rPr>
              <a:t>Uncertainty VLMs · POPE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26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[Kostumov et al., arXiv 2024]  [Li et al., EMNLP 2023]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65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Точность VLM не согласована с неопределённостью; POPE: VLM склонны отвечать «Yes» — majority vote по перефразировкам выявляет нестабильные ответы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Улучшение G: inline Chain-of-Thought (RC4-A)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Times New Roman"/>
              </a:rPr>
              <a:t>Без CoT (r23):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ourier New"/>
              </a:rPr>
              <a:t>Is there exactly 2 tangerines?
Answer: Yes /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0392B"/>
                </a:solidFill>
                <a:latin typeface="Times New Roman"/>
              </a:rPr>
              <a:t>→ модель угадывает на основе статистических ожиданий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554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020"/>
                </a:solidFill>
                <a:latin typeface="Times New Roman"/>
              </a:rPr>
              <a:t>RC4-A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28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86C8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Times New Roman"/>
              </a:rPr>
              <a:t>С CoT (r25):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258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ourier New"/>
              </a:rPr>
              <a:t>Step 1 - Observe:
  Describe what you see about tangerines.
Step 2 - Conclude:
  Is there exactly 2? Result: Yes /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+ majority vote по 4 перефразировкам вопроса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25603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FP: 12 →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788920"/>
            <a:ext cx="2834640" cy="59436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AUROC: 0.782 → 0.852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788920"/>
            <a:ext cx="2743200" cy="59436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F1-max: 0.746 → 0.818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66160"/>
            <a:ext cx="8321040" cy="1371600"/>
          </a:xfrm>
          <a:prstGeom prst="rect">
            <a:avLst/>
          </a:prstGeom>
          <a:solidFill>
            <a:srgbClr val="E0ECF8"/>
          </a:solidFill>
          <a:ln w="20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Механизм: </a:t>
            </a:r>
            <a:r>
              <a:rPr sz="1500">
                <a:solidFill>
                  <a:srgbClr val="18182E"/>
                </a:solidFill>
                <a:latin typeface="Times New Roman"/>
              </a:rPr>
              <a:t>ложноположительный ответ потребовал бы сформулировать несуществующее нарушение. Step 1 Observe создаёт верифицируемую посылку — модель не может соврать, не описав реального нарушения. Yes-bias (POPE, 2023) полностью устранён.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Прогрессия результатов: baseline → r25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breakfast_box · 50 тестовых изображений (25 good + 25 anomaly)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832103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777240"/>
                <a:gridCol w="594360"/>
                <a:gridCol w="594360"/>
                <a:gridCol w="3749039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Запуск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F1-max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FN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Ключевое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Baseline (avg 5 cls)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0.655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Монолитный, без CoT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r18 (decomposed start)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0.521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Декомпозиция (нестабильна)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r21 (NORMALITY fix)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Регрессия промптов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r23 (fixes 3b/3c/4)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0.782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0.746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Исправление Stage 3b/4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r25 ★ RC4-A CoT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0.852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0.818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inline CoT · FP=0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3977639"/>
            <a:ext cx="22860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AUROC = 0.852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3977639"/>
            <a:ext cx="13716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FP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3977639"/>
            <a:ext cx="18288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CCR =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3977639"/>
            <a:ext cx="2286000" cy="64008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≈ GPT-4o · 0 руб./запрос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Иерархическая система оценки L1–L4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Зачем: AUROC не показывает, на каком этапе пайплайна возникает ошибка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09728" cy="59436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86C8"/>
                </a:solidFill>
                <a:latin typeface="Times New Roman"/>
              </a:rPr>
              <a:t>L1  Восприятие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CLIPScore = 69.7%   ·   CCR =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Описание семантически верное и полное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92808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984248"/>
            <a:ext cx="109728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Times New Roman"/>
              </a:rPr>
              <a:t>L2  Атрибуты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84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MACE = 0.24   ·   SRA = 64.3%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842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Счёт точен · пространственные отношения — системная слабость 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42616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34056"/>
            <a:ext cx="109728" cy="59436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34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A8A"/>
                </a:solidFill>
                <a:latin typeface="Times New Roman"/>
              </a:rPr>
              <a:t>L2.5  Фильтрация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34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Precision = 21%   ·   Recall = 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73405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Ограничение Qwen2.5-3B-судьи: не различает перефразировки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483864"/>
            <a:ext cx="109728" cy="59436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83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Times New Roman"/>
              </a:rPr>
              <a:t>L3  Рассуждение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483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Sub-Q Consistency = 70.5%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4838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Умеренная стабильность — VLM неуверена (Kostumov et al. 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42232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233672"/>
            <a:ext cx="1097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Times New Roman"/>
              </a:rPr>
              <a:t>L4  Задача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233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AUROC = 0.852   ·   F1-max = 0.818   ·   FP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233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Лучший результат достигнут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182E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182E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AUROC 0.527 → 0.852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Times New Roman"/>
              </a:rPr>
              <a:t>open-source модель на одном GPU · без API · воспроизводимо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9456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182E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FP = 0  ·  CCR =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Times New Roman"/>
              </a:rPr>
              <a:t>RC4-A CoT + per-component Stage 1 решают разные проблемы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0040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182E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FN = 10 → пространство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Times New Roman"/>
              </a:rPr>
              <a:t>системная слабость VLM-8B (56% vs 99% люди, Kamath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E0ECF8"/>
          </a:solidFill>
          <a:ln w="300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Следующий шаг: </a:t>
            </a:r>
            <a:r>
              <a:rPr sz="1500">
                <a:solidFill>
                  <a:srgbClr val="18182E"/>
                </a:solidFill>
                <a:latin typeface="Times New Roman"/>
              </a:rPr>
              <a:t>InternVL2.5-38B-AWQ для пространственных аномалий · все 5 классов MVTec LOCO 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23500"/>
            <a:ext cx="9144000" cy="12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