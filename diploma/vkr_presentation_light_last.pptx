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72" r:id="rId22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6"/>
    <p:sldId id="267" r:id="rId17"/>
    <p:sldId id="268" r:id="rId18"/>
    <p:sldId id="269" r:id="rId19"/>
    <p:sldId id="270" r:id="rId20"/>
    <p:sldId id="271" r:id="rId2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126" y="3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80000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361547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4A5A6A"/>
                </a:solidFill>
                <a:latin typeface="Times New Roman"/>
              </a:rPr>
              <a:t>МОСКОВСКИЙ ФИЗИКО-ТЕХНИЧЕСКИЙ ИНСТИТУТ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29738"/>
            <a:ext cx="768096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dirty="0"/>
              <a:t>Фреймворк </a:t>
            </a:r>
            <a:r>
              <a:rPr lang="ru-RU" sz="2000" dirty="0" err="1"/>
              <a:t>few-shot</a:t>
            </a:r>
            <a:r>
              <a:rPr lang="ru-RU" sz="2000" dirty="0"/>
              <a:t> обнаружения логических аномалий на основе визуально-языковых моделей с иерархической оценкой качества визуальных рассуждений</a:t>
            </a:r>
            <a:endParaRPr sz="2000" b="1" i="0" dirty="0">
              <a:solidFill>
                <a:srgbClr val="18182E"/>
              </a:solidFill>
              <a:latin typeface="Times New Roman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11480" y="3383280"/>
            <a:ext cx="8321040" cy="40000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35661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E8A020"/>
                </a:solidFill>
                <a:latin typeface="Times New Roman"/>
              </a:rPr>
              <a:t>Д. А. Сахаров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 err="1">
                <a:solidFill>
                  <a:srgbClr val="4A5A6A"/>
                </a:solidFill>
                <a:latin typeface="Times New Roman"/>
              </a:rPr>
              <a:t>Научный</a:t>
            </a:r>
            <a:r>
              <a:rPr sz="1400" b="0" i="0" dirty="0">
                <a:solidFill>
                  <a:srgbClr val="4A5A6A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4A5A6A"/>
                </a:solidFill>
                <a:latin typeface="Times New Roman"/>
              </a:rPr>
              <a:t>руководитель</a:t>
            </a:r>
            <a:r>
              <a:rPr sz="1400" b="0" i="0" dirty="0">
                <a:solidFill>
                  <a:srgbClr val="4A5A6A"/>
                </a:solidFill>
                <a:latin typeface="Times New Roman"/>
              </a:rPr>
              <a:t>: </a:t>
            </a:r>
            <a:r>
              <a:rPr sz="1400" b="0" i="0" dirty="0" err="1">
                <a:solidFill>
                  <a:srgbClr val="4A5A6A"/>
                </a:solidFill>
                <a:latin typeface="Times New Roman"/>
              </a:rPr>
              <a:t>Копылов</a:t>
            </a:r>
            <a:r>
              <a:rPr sz="1400" b="0" i="0" dirty="0">
                <a:solidFill>
                  <a:srgbClr val="4A5A6A"/>
                </a:solidFill>
                <a:latin typeface="Times New Roman"/>
              </a:rPr>
              <a:t> И.С.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A5A6A"/>
                </a:solidFill>
                <a:latin typeface="Times New Roman"/>
              </a:rPr>
              <a:t>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023500"/>
            <a:ext cx="9144000" cy="120000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8182E"/>
                </a:solidFill>
                <a:latin typeface="Times New Roman"/>
              </a:rPr>
              <a:t>Проблема: логические аномалии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77240"/>
            <a:ext cx="8321040" cy="40000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3931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A86C8"/>
                </a:solidFill>
                <a:latin typeface="Times New Roman"/>
              </a:rPr>
              <a:t>Структурная аномалия</a:t>
            </a:r>
          </a:p>
          <a:p>
            <a:pPr algn="l">
              <a:spcBef>
                <a:spcPts val="120"/>
              </a:spcBef>
            </a:pPr>
            <a:r>
              <a:rPr sz="1500">
                <a:solidFill>
                  <a:srgbClr val="18182E"/>
                </a:solidFill>
                <a:latin typeface="Times New Roman"/>
              </a:rPr>
              <a:t>▸  Царапина, трещина, загрязнение</a:t>
            </a:r>
          </a:p>
          <a:p>
            <a:pPr algn="l">
              <a:spcBef>
                <a:spcPts val="120"/>
              </a:spcBef>
            </a:pPr>
            <a:r>
              <a:rPr sz="1500">
                <a:solidFill>
                  <a:srgbClr val="18182E"/>
                </a:solidFill>
                <a:latin typeface="Times New Roman"/>
              </a:rPr>
              <a:t>▸  Локальный дефект пикселей</a:t>
            </a:r>
          </a:p>
          <a:p>
            <a:pPr algn="l">
              <a:spcBef>
                <a:spcPts val="120"/>
              </a:spcBef>
            </a:pPr>
            <a:r>
              <a:rPr sz="1500">
                <a:solidFill>
                  <a:srgbClr val="18182E"/>
                </a:solidFill>
                <a:latin typeface="Times New Roman"/>
              </a:rPr>
              <a:t>▸  PatchCore, DRAEM → AUROC &gt; 0.95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00600" y="960120"/>
            <a:ext cx="3931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A020"/>
                </a:solidFill>
                <a:latin typeface="Times New Roman"/>
              </a:rPr>
              <a:t>Логическая аномалия  ← наша задача</a:t>
            </a:r>
          </a:p>
          <a:p>
            <a:pPr algn="l">
              <a:spcBef>
                <a:spcPts val="120"/>
              </a:spcBef>
            </a:pPr>
            <a:r>
              <a:rPr sz="1500">
                <a:solidFill>
                  <a:srgbClr val="18182E"/>
                </a:solidFill>
                <a:latin typeface="Times New Roman"/>
              </a:rPr>
              <a:t>▸  Нарушение правил комплектации</a:t>
            </a:r>
          </a:p>
          <a:p>
            <a:pPr algn="l">
              <a:spcBef>
                <a:spcPts val="120"/>
              </a:spcBef>
            </a:pPr>
            <a:r>
              <a:rPr sz="1500">
                <a:solidFill>
                  <a:srgbClr val="18182E"/>
                </a:solidFill>
                <a:latin typeface="Times New Roman"/>
              </a:rPr>
              <a:t>▸  Каждый пиксель нормален — дефект только в смысле</a:t>
            </a:r>
          </a:p>
          <a:p>
            <a:pPr algn="l">
              <a:spcBef>
                <a:spcPts val="120"/>
              </a:spcBef>
            </a:pPr>
            <a:r>
              <a:rPr sz="1500">
                <a:solidFill>
                  <a:srgbClr val="18182E"/>
                </a:solidFill>
                <a:latin typeface="Times New Roman"/>
              </a:rPr>
              <a:t>▸  «2 мандарина» вместо «1» → все методы слепы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60520" y="16459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4A5A6A"/>
                </a:solidFill>
                <a:latin typeface="Times New Roman"/>
              </a:rPr>
              <a:t>VS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3429000"/>
            <a:ext cx="8321040" cy="1371600"/>
          </a:xfrm>
          <a:prstGeom prst="rect">
            <a:avLst/>
          </a:prstGeom>
          <a:solidFill>
            <a:srgbClr val="E0ECF8"/>
          </a:solidFill>
          <a:ln w="25000">
            <a:solidFill>
              <a:srgbClr val="4A8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lang="ru-RU" sz="1400" dirty="0">
                <a:solidFill>
                  <a:srgbClr val="4A5A6A"/>
                </a:solidFill>
                <a:latin typeface="Times New Roman"/>
              </a:rPr>
              <a:t>Актуальный подход</a:t>
            </a:r>
            <a:r>
              <a:rPr sz="1400" dirty="0">
                <a:solidFill>
                  <a:srgbClr val="4A5A6A"/>
                </a:solidFill>
                <a:latin typeface="Times New Roman"/>
              </a:rPr>
              <a:t>:</a:t>
            </a:r>
          </a:p>
          <a:p>
            <a:pPr algn="l"/>
            <a:r>
              <a:rPr sz="1700" b="1" dirty="0" err="1">
                <a:solidFill>
                  <a:srgbClr val="18182E"/>
                </a:solidFill>
                <a:latin typeface="Times New Roman"/>
              </a:rPr>
              <a:t>визуально-языковая</a:t>
            </a:r>
            <a:r>
              <a:rPr sz="1700" b="1" dirty="0">
                <a:solidFill>
                  <a:srgbClr val="18182E"/>
                </a:solidFill>
                <a:latin typeface="Times New Roman"/>
              </a:rPr>
              <a:t> </a:t>
            </a:r>
            <a:r>
              <a:rPr sz="1700" b="1" dirty="0" err="1">
                <a:solidFill>
                  <a:srgbClr val="18182E"/>
                </a:solidFill>
                <a:latin typeface="Times New Roman"/>
              </a:rPr>
              <a:t>модель</a:t>
            </a:r>
            <a:r>
              <a:rPr sz="1700" b="1" dirty="0">
                <a:solidFill>
                  <a:srgbClr val="18182E"/>
                </a:solidFill>
                <a:latin typeface="Times New Roman"/>
              </a:rPr>
              <a:t> </a:t>
            </a:r>
            <a:r>
              <a:rPr sz="1700" b="1" dirty="0" err="1">
                <a:solidFill>
                  <a:srgbClr val="18182E"/>
                </a:solidFill>
                <a:latin typeface="Times New Roman"/>
              </a:rPr>
              <a:t>как</a:t>
            </a:r>
            <a:r>
              <a:rPr sz="1700" b="1" dirty="0">
                <a:solidFill>
                  <a:srgbClr val="18182E"/>
                </a:solidFill>
                <a:latin typeface="Times New Roman"/>
              </a:rPr>
              <a:t> </a:t>
            </a:r>
            <a:r>
              <a:rPr sz="1700" b="1" dirty="0" err="1">
                <a:solidFill>
                  <a:srgbClr val="18182E"/>
                </a:solidFill>
                <a:latin typeface="Times New Roman"/>
              </a:rPr>
              <a:t>рассуждающий</a:t>
            </a:r>
            <a:r>
              <a:rPr sz="1700" b="1" dirty="0">
                <a:solidFill>
                  <a:srgbClr val="18182E"/>
                </a:solidFill>
                <a:latin typeface="Times New Roman"/>
              </a:rPr>
              <a:t> </a:t>
            </a:r>
            <a:r>
              <a:rPr sz="1700" b="1" dirty="0" err="1">
                <a:solidFill>
                  <a:srgbClr val="18182E"/>
                </a:solidFill>
                <a:latin typeface="Times New Roman"/>
              </a:rPr>
              <a:t>агент</a:t>
            </a:r>
            <a:r>
              <a:rPr sz="1700" b="1" dirty="0">
                <a:solidFill>
                  <a:srgbClr val="18182E"/>
                </a:solidFill>
                <a:latin typeface="Times New Roman"/>
              </a:rPr>
              <a:t> — </a:t>
            </a:r>
            <a:r>
              <a:rPr sz="1700" b="1" dirty="0" err="1">
                <a:solidFill>
                  <a:srgbClr val="18182E"/>
                </a:solidFill>
                <a:latin typeface="Times New Roman"/>
              </a:rPr>
              <a:t>формирует</a:t>
            </a:r>
            <a:r>
              <a:rPr sz="1700" b="1" dirty="0">
                <a:solidFill>
                  <a:srgbClr val="18182E"/>
                </a:solidFill>
                <a:latin typeface="Times New Roman"/>
              </a:rPr>
              <a:t> и </a:t>
            </a:r>
            <a:r>
              <a:rPr sz="1700" b="1" dirty="0" err="1">
                <a:solidFill>
                  <a:srgbClr val="18182E"/>
                </a:solidFill>
                <a:latin typeface="Times New Roman"/>
              </a:rPr>
              <a:t>проверяет</a:t>
            </a:r>
            <a:r>
              <a:rPr sz="1700" b="1" dirty="0">
                <a:solidFill>
                  <a:srgbClr val="18182E"/>
                </a:solidFill>
                <a:latin typeface="Times New Roman"/>
              </a:rPr>
              <a:t> </a:t>
            </a:r>
            <a:r>
              <a:rPr sz="1700" b="1" dirty="0" err="1">
                <a:solidFill>
                  <a:srgbClr val="18182E"/>
                </a:solidFill>
                <a:latin typeface="Times New Roman"/>
              </a:rPr>
              <a:t>семантические</a:t>
            </a:r>
            <a:r>
              <a:rPr sz="1700" b="1" dirty="0">
                <a:solidFill>
                  <a:srgbClr val="18182E"/>
                </a:solidFill>
                <a:latin typeface="Times New Roman"/>
              </a:rPr>
              <a:t> </a:t>
            </a:r>
            <a:r>
              <a:rPr sz="1700" b="1" dirty="0" err="1">
                <a:solidFill>
                  <a:srgbClr val="18182E"/>
                </a:solidFill>
                <a:latin typeface="Times New Roman"/>
              </a:rPr>
              <a:t>ограничения</a:t>
            </a:r>
            <a:r>
              <a:rPr sz="1700" b="1" dirty="0">
                <a:solidFill>
                  <a:srgbClr val="18182E"/>
                </a:solidFill>
                <a:latin typeface="Times New Roman"/>
              </a:rPr>
              <a:t> </a:t>
            </a:r>
            <a:r>
              <a:rPr sz="1700" b="1" dirty="0" err="1">
                <a:solidFill>
                  <a:srgbClr val="18182E"/>
                </a:solidFill>
                <a:latin typeface="Times New Roman"/>
              </a:rPr>
              <a:t>нормальности</a:t>
            </a:r>
            <a:endParaRPr sz="1700" b="1" dirty="0">
              <a:solidFill>
                <a:srgbClr val="18182E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8182E"/>
                </a:solidFill>
                <a:latin typeface="Times New Roman"/>
              </a:rPr>
              <a:t>Исходная точка: воспроизведение LogicQA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77240"/>
            <a:ext cx="8321040" cy="40000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0"/>
            <a:ext cx="8321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A5A6A"/>
                </a:solidFill>
                <a:latin typeface="Times New Roman"/>
              </a:rPr>
              <a:t>InternVL2.5-8B · n_shots=3 · монолитный Stage 1 · без CoT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280160"/>
          <a:ext cx="5303520" cy="28868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3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3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3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3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3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3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8822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8182E"/>
                          </a:solidFill>
                          <a:latin typeface="Times New Roman"/>
                        </a:rPr>
                        <a:t>Класс</a:t>
                      </a:r>
                    </a:p>
                  </a:txBody>
                  <a:tcPr>
                    <a:solidFill>
                      <a:srgbClr val="4A86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8182E"/>
                          </a:solidFill>
                          <a:latin typeface="Times New Roman"/>
                        </a:rPr>
                        <a:t>AUROC</a:t>
                      </a:r>
                    </a:p>
                  </a:txBody>
                  <a:tcPr>
                    <a:solidFill>
                      <a:srgbClr val="4A86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8182E"/>
                          </a:solidFill>
                          <a:latin typeface="Times New Roman"/>
                        </a:rPr>
                        <a:t>F1-max</a:t>
                      </a:r>
                    </a:p>
                  </a:txBody>
                  <a:tcPr>
                    <a:solidFill>
                      <a:srgbClr val="4A86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8182E"/>
                          </a:solidFill>
                          <a:latin typeface="Times New Roman"/>
                        </a:rPr>
                        <a:t>TP</a:t>
                      </a:r>
                    </a:p>
                  </a:txBody>
                  <a:tcPr>
                    <a:solidFill>
                      <a:srgbClr val="4A86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8182E"/>
                          </a:solidFill>
                          <a:latin typeface="Times New Roman"/>
                        </a:rPr>
                        <a:t>FP</a:t>
                      </a:r>
                    </a:p>
                  </a:txBody>
                  <a:tcPr>
                    <a:solidFill>
                      <a:srgbClr val="4A86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8182E"/>
                          </a:solidFill>
                          <a:latin typeface="Times New Roman"/>
                        </a:rPr>
                        <a:t>FN</a:t>
                      </a:r>
                    </a:p>
                  </a:txBody>
                  <a:tcPr>
                    <a:solidFill>
                      <a:srgbClr val="4A86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822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8182E"/>
                          </a:solidFill>
                          <a:latin typeface="Times New Roman"/>
                        </a:rPr>
                        <a:t>breakfast_box</a:t>
                      </a:r>
                    </a:p>
                  </a:txBody>
                  <a:tcPr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8182E"/>
                          </a:solidFill>
                          <a:latin typeface="Times New Roman"/>
                        </a:rPr>
                        <a:t>0.589</a:t>
                      </a:r>
                    </a:p>
                  </a:txBody>
                  <a:tcPr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8182E"/>
                          </a:solidFill>
                          <a:latin typeface="Times New Roman"/>
                        </a:rPr>
                        <a:t>0.619</a:t>
                      </a:r>
                    </a:p>
                  </a:txBody>
                  <a:tcPr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8182E"/>
                          </a:solidFill>
                          <a:latin typeface="Times New Roman"/>
                        </a:rPr>
                        <a:t>90</a:t>
                      </a:r>
                    </a:p>
                  </a:txBody>
                  <a:tcPr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8182E"/>
                          </a:solidFill>
                          <a:latin typeface="Times New Roman"/>
                        </a:rPr>
                        <a:t>42</a:t>
                      </a:r>
                    </a:p>
                  </a:txBody>
                  <a:tcPr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8182E"/>
                          </a:solidFill>
                          <a:latin typeface="Times New Roman"/>
                        </a:rPr>
                        <a:t>83</a:t>
                      </a:r>
                    </a:p>
                  </a:txBody>
                  <a:tcPr>
                    <a:solidFill>
                      <a:srgbClr val="F5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822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8182E"/>
                          </a:solidFill>
                          <a:latin typeface="Times New Roman"/>
                        </a:rPr>
                        <a:t>juice_bottle</a:t>
                      </a:r>
                    </a:p>
                  </a:txBody>
                  <a:tcPr>
                    <a:solidFill>
                      <a:srgbClr val="EBEB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8182E"/>
                          </a:solidFill>
                          <a:latin typeface="Times New Roman"/>
                        </a:rPr>
                        <a:t>0.537</a:t>
                      </a:r>
                    </a:p>
                  </a:txBody>
                  <a:tcPr>
                    <a:solidFill>
                      <a:srgbClr val="EBEB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8182E"/>
                          </a:solidFill>
                          <a:latin typeface="Times New Roman"/>
                        </a:rPr>
                        <a:t>0.751</a:t>
                      </a:r>
                    </a:p>
                  </a:txBody>
                  <a:tcPr>
                    <a:solidFill>
                      <a:srgbClr val="EBEB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8182E"/>
                          </a:solidFill>
                          <a:latin typeface="Times New Roman"/>
                        </a:rPr>
                        <a:t>127</a:t>
                      </a:r>
                    </a:p>
                  </a:txBody>
                  <a:tcPr>
                    <a:solidFill>
                      <a:srgbClr val="EBEB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8182E"/>
                          </a:solidFill>
                          <a:latin typeface="Times New Roman"/>
                        </a:rPr>
                        <a:t>44</a:t>
                      </a:r>
                    </a:p>
                  </a:txBody>
                  <a:tcPr>
                    <a:solidFill>
                      <a:srgbClr val="EBEB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8182E"/>
                          </a:solidFill>
                          <a:latin typeface="Times New Roman"/>
                        </a:rPr>
                        <a:t>109</a:t>
                      </a:r>
                    </a:p>
                  </a:txBody>
                  <a:tcPr>
                    <a:solidFill>
                      <a:srgbClr val="EBEB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8822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8182E"/>
                          </a:solidFill>
                          <a:latin typeface="Times New Roman"/>
                        </a:rPr>
                        <a:t>pushpins</a:t>
                      </a:r>
                    </a:p>
                  </a:txBody>
                  <a:tcPr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8182E"/>
                          </a:solidFill>
                          <a:latin typeface="Times New Roman"/>
                        </a:rPr>
                        <a:t>0.543</a:t>
                      </a:r>
                    </a:p>
                  </a:txBody>
                  <a:tcPr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8182E"/>
                          </a:solidFill>
                          <a:latin typeface="Times New Roman"/>
                        </a:rPr>
                        <a:t>0.569</a:t>
                      </a:r>
                    </a:p>
                  </a:txBody>
                  <a:tcPr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8182E"/>
                          </a:solidFill>
                          <a:latin typeface="Times New Roman"/>
                        </a:rPr>
                        <a:t>51</a:t>
                      </a:r>
                    </a:p>
                  </a:txBody>
                  <a:tcPr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8182E"/>
                          </a:solidFill>
                          <a:latin typeface="Times New Roman"/>
                        </a:rPr>
                        <a:t>29</a:t>
                      </a:r>
                    </a:p>
                  </a:txBody>
                  <a:tcPr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8182E"/>
                          </a:solidFill>
                          <a:latin typeface="Times New Roman"/>
                        </a:rPr>
                        <a:t>121</a:t>
                      </a:r>
                    </a:p>
                  </a:txBody>
                  <a:tcPr>
                    <a:solidFill>
                      <a:srgbClr val="F5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8822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8182E"/>
                          </a:solidFill>
                          <a:latin typeface="Times New Roman"/>
                        </a:rPr>
                        <a:t>screw_bag</a:t>
                      </a:r>
                    </a:p>
                  </a:txBody>
                  <a:tcPr>
                    <a:solidFill>
                      <a:srgbClr val="EBEB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8182E"/>
                          </a:solidFill>
                          <a:latin typeface="Times New Roman"/>
                        </a:rPr>
                        <a:t>0.484</a:t>
                      </a:r>
                    </a:p>
                  </a:txBody>
                  <a:tcPr>
                    <a:solidFill>
                      <a:srgbClr val="EBEB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8182E"/>
                          </a:solidFill>
                          <a:latin typeface="Times New Roman"/>
                        </a:rPr>
                        <a:t>0.692</a:t>
                      </a:r>
                    </a:p>
                  </a:txBody>
                  <a:tcPr>
                    <a:solidFill>
                      <a:srgbClr val="EBEB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8182E"/>
                          </a:solidFill>
                          <a:latin typeface="Times New Roman"/>
                        </a:rPr>
                        <a:t>73</a:t>
                      </a:r>
                    </a:p>
                  </a:txBody>
                  <a:tcPr>
                    <a:solidFill>
                      <a:srgbClr val="EBEB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8182E"/>
                          </a:solidFill>
                          <a:latin typeface="Times New Roman"/>
                        </a:rPr>
                        <a:t>44</a:t>
                      </a:r>
                    </a:p>
                  </a:txBody>
                  <a:tcPr>
                    <a:solidFill>
                      <a:srgbClr val="EBEB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8182E"/>
                          </a:solidFill>
                          <a:latin typeface="Times New Roman"/>
                        </a:rPr>
                        <a:t>146</a:t>
                      </a:r>
                    </a:p>
                  </a:txBody>
                  <a:tcPr>
                    <a:solidFill>
                      <a:srgbClr val="EBEB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8822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8182E"/>
                          </a:solidFill>
                          <a:latin typeface="Times New Roman"/>
                        </a:rPr>
                        <a:t>splicing_connectors</a:t>
                      </a:r>
                    </a:p>
                  </a:txBody>
                  <a:tcPr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8182E"/>
                          </a:solidFill>
                          <a:latin typeface="Times New Roman"/>
                        </a:rPr>
                        <a:t>0.481</a:t>
                      </a:r>
                    </a:p>
                  </a:txBody>
                  <a:tcPr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8182E"/>
                          </a:solidFill>
                          <a:latin typeface="Times New Roman"/>
                        </a:rPr>
                        <a:t>0.645</a:t>
                      </a:r>
                    </a:p>
                  </a:txBody>
                  <a:tcPr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8182E"/>
                          </a:solidFill>
                          <a:latin typeface="Times New Roman"/>
                        </a:rPr>
                        <a:t>160</a:t>
                      </a:r>
                    </a:p>
                  </a:txBody>
                  <a:tcPr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8182E"/>
                          </a:solidFill>
                          <a:latin typeface="Times New Roman"/>
                        </a:rPr>
                        <a:t>106</a:t>
                      </a:r>
                    </a:p>
                  </a:txBody>
                  <a:tcPr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8182E"/>
                          </a:solidFill>
                          <a:latin typeface="Times New Roman"/>
                        </a:rPr>
                        <a:t>33</a:t>
                      </a:r>
                    </a:p>
                  </a:txBody>
                  <a:tcPr>
                    <a:solidFill>
                      <a:srgbClr val="F5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8828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8182E"/>
                          </a:solidFill>
                          <a:latin typeface="Times New Roman"/>
                        </a:rPr>
                        <a:t>AVG</a:t>
                      </a:r>
                    </a:p>
                  </a:txBody>
                  <a:tcPr>
                    <a:solidFill>
                      <a:srgbClr val="EBEB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8182E"/>
                          </a:solidFill>
                          <a:latin typeface="Times New Roman"/>
                        </a:rPr>
                        <a:t>0.527</a:t>
                      </a:r>
                    </a:p>
                  </a:txBody>
                  <a:tcPr>
                    <a:solidFill>
                      <a:srgbClr val="EBEB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8182E"/>
                          </a:solidFill>
                          <a:latin typeface="Times New Roman"/>
                        </a:rPr>
                        <a:t>0.655</a:t>
                      </a:r>
                    </a:p>
                  </a:txBody>
                  <a:tcPr>
                    <a:solidFill>
                      <a:srgbClr val="EBEB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8182E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>
                    <a:solidFill>
                      <a:srgbClr val="EBEB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8182E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>
                    <a:solidFill>
                      <a:srgbClr val="EBEB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8182E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>
                    <a:solidFill>
                      <a:srgbClr val="EBEB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035040" y="1371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5A6A"/>
                </a:solidFill>
                <a:latin typeface="Times New Roman"/>
              </a:rPr>
              <a:t>GPT-4o (оригинал):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737360"/>
            <a:ext cx="2743200" cy="502920"/>
          </a:xfrm>
          <a:prstGeom prst="rect">
            <a:avLst/>
          </a:prstGeom>
          <a:solidFill>
            <a:srgbClr val="276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AVG AUROC ≈ 0.876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2423160"/>
            <a:ext cx="27432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300" b="0" i="0" dirty="0">
                <a:solidFill>
                  <a:srgbClr val="4A5A6A"/>
                </a:solidFill>
                <a:latin typeface="Times New Roman"/>
              </a:rPr>
              <a:t>B</a:t>
            </a:r>
            <a:r>
              <a:rPr sz="1300" dirty="0" err="1">
                <a:solidFill>
                  <a:srgbClr val="4A5A6A"/>
                </a:solidFill>
                <a:latin typeface="Times New Roman"/>
              </a:rPr>
              <a:t>aseline</a:t>
            </a:r>
            <a:r>
              <a:rPr lang="es-ES" sz="1300" b="0" i="0" dirty="0">
                <a:solidFill>
                  <a:srgbClr val="4A5A6A"/>
                </a:solidFill>
                <a:latin typeface="Times New Roman"/>
              </a:rPr>
              <a:t> </a:t>
            </a:r>
            <a:r>
              <a:rPr lang="ru-RU" sz="1300" dirty="0">
                <a:solidFill>
                  <a:srgbClr val="4A5A6A"/>
                </a:solidFill>
                <a:latin typeface="Times New Roman"/>
              </a:rPr>
              <a:t>InternVL2.5-8B</a:t>
            </a:r>
            <a:r>
              <a:rPr sz="1300" dirty="0">
                <a:solidFill>
                  <a:srgbClr val="4A5A6A"/>
                </a:solidFill>
                <a:latin typeface="Times New Roman"/>
              </a:rPr>
              <a:t>: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788920"/>
            <a:ext cx="2743200" cy="5029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AVG AUROC = 0.527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4069080"/>
            <a:ext cx="8321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A020"/>
                </a:solidFill>
                <a:latin typeface="Times New Roman"/>
              </a:rPr>
              <a:t>Два корневых дефекта:</a:t>
            </a:r>
          </a:p>
          <a:p>
            <a:pPr algn="l">
              <a:spcBef>
                <a:spcPts val="120"/>
              </a:spcBef>
            </a:pPr>
            <a:r>
              <a:rPr sz="1400">
                <a:solidFill>
                  <a:srgbClr val="FFCC80"/>
                </a:solidFill>
                <a:latin typeface="Times New Roman"/>
              </a:rPr>
              <a:t>▸  Монолитное описание галлюцинирует и пропускает компоненты (CCR=63%)</a:t>
            </a:r>
          </a:p>
          <a:p>
            <a:pPr algn="l">
              <a:spcBef>
                <a:spcPts val="120"/>
              </a:spcBef>
            </a:pPr>
            <a:r>
              <a:rPr sz="1400">
                <a:solidFill>
                  <a:srgbClr val="FFCC80"/>
                </a:solidFill>
                <a:latin typeface="Times New Roman"/>
              </a:rPr>
              <a:t>▸  Модель отвечает «Yes» без реального анализа — yes-bias (FP=42)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8182E"/>
                </a:solidFill>
                <a:latin typeface="Times New Roman"/>
              </a:rPr>
              <a:t>Улучшение A: декомпозированный Stage 1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77240"/>
            <a:ext cx="8321040" cy="40000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3017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0392B"/>
                </a:solidFill>
                <a:latin typeface="Times New Roman"/>
              </a:rPr>
              <a:t>Проблема</a:t>
            </a:r>
          </a:p>
          <a:p>
            <a:pPr algn="l">
              <a:spcBef>
                <a:spcPts val="120"/>
              </a:spcBef>
            </a:pPr>
            <a:r>
              <a:rPr sz="1400">
                <a:solidFill>
                  <a:srgbClr val="18182E"/>
                </a:solidFill>
                <a:latin typeface="Times New Roman"/>
              </a:rPr>
              <a:t>▸  Один запрос на всё изображение</a:t>
            </a:r>
          </a:p>
          <a:p>
            <a:pPr algn="l">
              <a:spcBef>
                <a:spcPts val="120"/>
              </a:spcBef>
            </a:pPr>
            <a:r>
              <a:rPr sz="1400">
                <a:solidFill>
                  <a:srgbClr val="18182E"/>
                </a:solidFill>
                <a:latin typeface="Times New Roman"/>
              </a:rPr>
              <a:t>▸  VLM «галлюцинирует» объекты</a:t>
            </a:r>
          </a:p>
          <a:p>
            <a:pPr algn="l">
              <a:spcBef>
                <a:spcPts val="120"/>
              </a:spcBef>
            </a:pPr>
            <a:r>
              <a:rPr sz="1400">
                <a:solidFill>
                  <a:srgbClr val="18182E"/>
                </a:solidFill>
                <a:latin typeface="Times New Roman"/>
              </a:rPr>
              <a:t>▸  Упускает редкие компоненты</a:t>
            </a:r>
          </a:p>
          <a:p>
            <a:pPr algn="l">
              <a:spcBef>
                <a:spcPts val="120"/>
              </a:spcBef>
            </a:pPr>
            <a:r>
              <a:rPr sz="1400">
                <a:solidFill>
                  <a:srgbClr val="18182E"/>
                </a:solidFill>
                <a:latin typeface="Times New Roman"/>
              </a:rPr>
              <a:t>▸  CCR baseline = 63.3%</a:t>
            </a:r>
          </a:p>
        </p:txBody>
      </p:sp>
      <p:sp>
        <p:nvSpPr>
          <p:cNvPr id="5" name="Rectangle 4"/>
          <p:cNvSpPr/>
          <p:nvPr/>
        </p:nvSpPr>
        <p:spPr>
          <a:xfrm>
            <a:off x="3520440" y="1645920"/>
            <a:ext cx="45720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520440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4A86C8"/>
                </a:solidFill>
                <a:latin typeface="Times New Roman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69080" y="960120"/>
            <a:ext cx="3017520" cy="1697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dirty="0" err="1">
                <a:solidFill>
                  <a:srgbClr val="27AE60"/>
                </a:solidFill>
                <a:latin typeface="Times New Roman"/>
              </a:rPr>
              <a:t>Решение</a:t>
            </a:r>
            <a:endParaRPr sz="1700" b="1" dirty="0">
              <a:solidFill>
                <a:srgbClr val="27AE60"/>
              </a:solidFill>
              <a:latin typeface="Times New Roman"/>
            </a:endParaRPr>
          </a:p>
          <a:p>
            <a:pPr algn="l">
              <a:spcBef>
                <a:spcPts val="120"/>
              </a:spcBef>
            </a:pPr>
            <a:r>
              <a:rPr sz="1400" dirty="0">
                <a:solidFill>
                  <a:srgbClr val="18182E"/>
                </a:solidFill>
                <a:latin typeface="Times New Roman"/>
              </a:rPr>
              <a:t>▸  </a:t>
            </a:r>
            <a:r>
              <a:rPr lang="es-ES" sz="1400" dirty="0">
                <a:solidFill>
                  <a:srgbClr val="18182E"/>
                </a:solidFill>
                <a:latin typeface="Times New Roman"/>
              </a:rPr>
              <a:t>5</a:t>
            </a:r>
            <a:r>
              <a:rPr sz="1400" dirty="0">
                <a:solidFill>
                  <a:srgbClr val="18182E"/>
                </a:solidFill>
                <a:latin typeface="Times New Roman"/>
              </a:rPr>
              <a:t> </a:t>
            </a:r>
            <a:r>
              <a:rPr sz="1400" dirty="0" err="1">
                <a:solidFill>
                  <a:srgbClr val="18182E"/>
                </a:solidFill>
                <a:latin typeface="Times New Roman"/>
              </a:rPr>
              <a:t>отдельных</a:t>
            </a:r>
            <a:r>
              <a:rPr sz="1400" dirty="0">
                <a:solidFill>
                  <a:srgbClr val="18182E"/>
                </a:solidFill>
                <a:latin typeface="Times New Roman"/>
              </a:rPr>
              <a:t> </a:t>
            </a:r>
            <a:r>
              <a:rPr sz="1400" dirty="0" err="1">
                <a:solidFill>
                  <a:srgbClr val="18182E"/>
                </a:solidFill>
                <a:latin typeface="Times New Roman"/>
              </a:rPr>
              <a:t>запросов</a:t>
            </a:r>
            <a:r>
              <a:rPr sz="1400" dirty="0">
                <a:solidFill>
                  <a:srgbClr val="18182E"/>
                </a:solidFill>
                <a:latin typeface="Times New Roman"/>
              </a:rPr>
              <a:t> </a:t>
            </a:r>
            <a:r>
              <a:rPr sz="1400" dirty="0" err="1">
                <a:solidFill>
                  <a:srgbClr val="18182E"/>
                </a:solidFill>
                <a:latin typeface="Times New Roman"/>
              </a:rPr>
              <a:t>по</a:t>
            </a:r>
            <a:r>
              <a:rPr sz="1400" dirty="0">
                <a:solidFill>
                  <a:srgbClr val="18182E"/>
                </a:solidFill>
                <a:latin typeface="Times New Roman"/>
              </a:rPr>
              <a:t> </a:t>
            </a:r>
            <a:r>
              <a:rPr sz="1400" dirty="0" err="1">
                <a:solidFill>
                  <a:srgbClr val="18182E"/>
                </a:solidFill>
                <a:latin typeface="Times New Roman"/>
              </a:rPr>
              <a:t>компонентам</a:t>
            </a:r>
            <a:endParaRPr sz="1400" dirty="0">
              <a:solidFill>
                <a:srgbClr val="18182E"/>
              </a:solidFill>
              <a:latin typeface="Times New Roman"/>
            </a:endParaRPr>
          </a:p>
          <a:p>
            <a:pPr algn="l">
              <a:spcBef>
                <a:spcPts val="120"/>
              </a:spcBef>
            </a:pPr>
            <a:r>
              <a:rPr sz="1400" dirty="0">
                <a:solidFill>
                  <a:srgbClr val="18182E"/>
                </a:solidFill>
                <a:latin typeface="Times New Roman"/>
              </a:rPr>
              <a:t>▸  tangerines / nectarine / </a:t>
            </a:r>
            <a:r>
              <a:rPr lang="es-ES" sz="1400" dirty="0">
                <a:solidFill>
                  <a:srgbClr val="18182E"/>
                </a:solidFill>
                <a:latin typeface="Times New Roman"/>
              </a:rPr>
              <a:t>cereal </a:t>
            </a:r>
            <a:r>
              <a:rPr lang="es-ES" sz="1400" dirty="0" err="1">
                <a:solidFill>
                  <a:srgbClr val="18182E"/>
                </a:solidFill>
                <a:latin typeface="Times New Roman"/>
              </a:rPr>
              <a:t>mix</a:t>
            </a:r>
            <a:r>
              <a:rPr sz="1400" dirty="0">
                <a:solidFill>
                  <a:srgbClr val="18182E"/>
                </a:solidFill>
                <a:latin typeface="Times New Roman"/>
              </a:rPr>
              <a:t> /</a:t>
            </a:r>
          </a:p>
          <a:p>
            <a:pPr algn="l">
              <a:spcBef>
                <a:spcPts val="120"/>
              </a:spcBef>
            </a:pPr>
            <a:r>
              <a:rPr sz="1400" dirty="0">
                <a:solidFill>
                  <a:srgbClr val="18182E"/>
                </a:solidFill>
                <a:latin typeface="Times New Roman"/>
              </a:rPr>
              <a:t>▸  banana chips / almonds</a:t>
            </a:r>
          </a:p>
          <a:p>
            <a:pPr algn="l">
              <a:spcBef>
                <a:spcPts val="120"/>
              </a:spcBef>
            </a:pPr>
            <a:r>
              <a:rPr sz="1400" dirty="0">
                <a:solidFill>
                  <a:srgbClr val="18182E"/>
                </a:solidFill>
                <a:latin typeface="Times New Roman"/>
              </a:rPr>
              <a:t>▸  5 </a:t>
            </a:r>
            <a:r>
              <a:rPr sz="1400" dirty="0" err="1">
                <a:solidFill>
                  <a:srgbClr val="18182E"/>
                </a:solidFill>
                <a:latin typeface="Times New Roman"/>
              </a:rPr>
              <a:t>изображений</a:t>
            </a:r>
            <a:r>
              <a:rPr sz="1400" dirty="0">
                <a:solidFill>
                  <a:srgbClr val="18182E"/>
                </a:solidFill>
                <a:latin typeface="Times New Roman"/>
              </a:rPr>
              <a:t> × </a:t>
            </a:r>
            <a:r>
              <a:rPr lang="es-ES" sz="1400" dirty="0">
                <a:solidFill>
                  <a:srgbClr val="18182E"/>
                </a:solidFill>
                <a:latin typeface="Times New Roman"/>
              </a:rPr>
              <a:t>5</a:t>
            </a:r>
            <a:r>
              <a:rPr sz="1400" dirty="0">
                <a:solidFill>
                  <a:srgbClr val="18182E"/>
                </a:solidFill>
                <a:latin typeface="Times New Roman"/>
              </a:rPr>
              <a:t> = </a:t>
            </a:r>
            <a:r>
              <a:rPr lang="es-ES" sz="1400" dirty="0">
                <a:solidFill>
                  <a:srgbClr val="18182E"/>
                </a:solidFill>
                <a:latin typeface="Times New Roman"/>
              </a:rPr>
              <a:t>25</a:t>
            </a:r>
            <a:r>
              <a:rPr sz="1400" dirty="0">
                <a:solidFill>
                  <a:srgbClr val="18182E"/>
                </a:solidFill>
                <a:latin typeface="Times New Roman"/>
              </a:rPr>
              <a:t> VLM-</a:t>
            </a:r>
            <a:r>
              <a:rPr sz="1400" dirty="0" err="1">
                <a:solidFill>
                  <a:srgbClr val="18182E"/>
                </a:solidFill>
                <a:latin typeface="Times New Roman"/>
              </a:rPr>
              <a:t>вызовов</a:t>
            </a:r>
            <a:endParaRPr sz="1400" dirty="0">
              <a:solidFill>
                <a:srgbClr val="18182E"/>
              </a:solidFill>
              <a:latin typeface="Times New Roman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178040" y="10515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A5A6A"/>
                </a:solidFill>
                <a:latin typeface="Times New Roman"/>
              </a:rPr>
              <a:t>Результат:</a:t>
            </a:r>
          </a:p>
        </p:txBody>
      </p:sp>
      <p:sp>
        <p:nvSpPr>
          <p:cNvPr id="9" name="Rectangle 8"/>
          <p:cNvSpPr/>
          <p:nvPr/>
        </p:nvSpPr>
        <p:spPr>
          <a:xfrm>
            <a:off x="7178040" y="1417320"/>
            <a:ext cx="178308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CCR: 63% → 100%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78040" y="2011680"/>
            <a:ext cx="1783080" cy="502920"/>
          </a:xfrm>
          <a:prstGeom prst="rect">
            <a:avLst/>
          </a:prstGeom>
          <a:solidFill>
            <a:srgbClr val="276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MACE: 0.44 → 0.24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337560"/>
            <a:ext cx="8321040" cy="1554480"/>
          </a:xfrm>
          <a:prstGeom prst="rect">
            <a:avLst/>
          </a:prstGeom>
          <a:solidFill>
            <a:srgbClr val="E0ECF8"/>
          </a:solidFill>
          <a:ln w="20000">
            <a:solidFill>
              <a:srgbClr val="4A8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E8A020"/>
                </a:solidFill>
                <a:latin typeface="Times New Roman"/>
              </a:rPr>
              <a:t>Почему работает: </a:t>
            </a:r>
            <a:r>
              <a:rPr sz="1500">
                <a:solidFill>
                  <a:srgbClr val="18182E"/>
                </a:solidFill>
                <a:latin typeface="Times New Roman"/>
              </a:rPr>
              <a:t>при фокусированном запросе «опиши только отсек с мандаринами» VLM не может галлюцинировать другие объекты — внимание жёстко ограничено компонентом. Все нормативные ограничения попадают в итоговое описание.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8182E"/>
                </a:solidFill>
                <a:latin typeface="Times New Roman"/>
              </a:rPr>
              <a:t>Улучшения пайплайна B – F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77240"/>
            <a:ext cx="8321040" cy="40000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914400"/>
            <a:ext cx="2743200" cy="1737360"/>
          </a:xfrm>
          <a:prstGeom prst="rect">
            <a:avLst/>
          </a:prstGeom>
          <a:solidFill>
            <a:srgbClr val="F0F4FA"/>
          </a:solidFill>
          <a:ln w="25000">
            <a:solidFill>
              <a:srgbClr val="167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914400"/>
            <a:ext cx="2743200" cy="90000"/>
          </a:xfrm>
          <a:prstGeom prst="rect">
            <a:avLst/>
          </a:prstGeom>
          <a:solidFill>
            <a:srgbClr val="16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91480" y="929400"/>
            <a:ext cx="220000" cy="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8182E"/>
                </a:solidFill>
                <a:latin typeface="Times New Roman"/>
              </a:rPr>
              <a:t>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1480" y="934400"/>
            <a:ext cx="2383200" cy="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8182E"/>
                </a:solidFill>
                <a:latin typeface="Times New Roman"/>
              </a:rPr>
              <a:t>Hedge-filtering  ·  Stage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1480" y="1132740"/>
            <a:ext cx="262320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 err="1">
                <a:solidFill>
                  <a:srgbClr val="333355"/>
                </a:solidFill>
                <a:latin typeface="Times New Roman"/>
              </a:rPr>
              <a:t>Исключаем</a:t>
            </a:r>
            <a:r>
              <a:rPr sz="1100" b="0" i="0" dirty="0">
                <a:solidFill>
                  <a:srgbClr val="333355"/>
                </a:solidFill>
                <a:latin typeface="Times New Roman"/>
              </a:rPr>
              <a:t> </a:t>
            </a:r>
            <a:r>
              <a:rPr sz="1100" b="0" i="0" dirty="0" err="1">
                <a:solidFill>
                  <a:srgbClr val="333355"/>
                </a:solidFill>
                <a:latin typeface="Times New Roman"/>
              </a:rPr>
              <a:t>утверждения</a:t>
            </a:r>
            <a:r>
              <a:rPr sz="1100" b="0" i="0" dirty="0">
                <a:solidFill>
                  <a:srgbClr val="333355"/>
                </a:solidFill>
                <a:latin typeface="Times New Roman"/>
              </a:rPr>
              <a:t> с «sometimes», «may», «appears to» </a:t>
            </a:r>
            <a:r>
              <a:rPr sz="1100" b="0" i="0" dirty="0" err="1">
                <a:solidFill>
                  <a:srgbClr val="333355"/>
                </a:solidFill>
                <a:latin typeface="Times New Roman"/>
              </a:rPr>
              <a:t>из</a:t>
            </a:r>
            <a:r>
              <a:rPr sz="1100" b="0" i="0" dirty="0">
                <a:solidFill>
                  <a:srgbClr val="333355"/>
                </a:solidFill>
                <a:latin typeface="Times New Roman"/>
              </a:rPr>
              <a:t> </a:t>
            </a:r>
            <a:r>
              <a:rPr sz="1100" b="0" i="0" dirty="0" err="1">
                <a:solidFill>
                  <a:srgbClr val="333355"/>
                </a:solidFill>
                <a:latin typeface="Times New Roman"/>
              </a:rPr>
              <a:t>нормативного</a:t>
            </a:r>
            <a:r>
              <a:rPr sz="1100" b="0" i="0" dirty="0">
                <a:solidFill>
                  <a:srgbClr val="333355"/>
                </a:solidFill>
                <a:latin typeface="Times New Roman"/>
              </a:rPr>
              <a:t> </a:t>
            </a:r>
            <a:r>
              <a:rPr sz="1100" b="0" i="0" dirty="0" err="1">
                <a:solidFill>
                  <a:srgbClr val="333355"/>
                </a:solidFill>
                <a:latin typeface="Times New Roman"/>
              </a:rPr>
              <a:t>определения</a:t>
            </a:r>
            <a:endParaRPr sz="1100" b="0" i="0" dirty="0">
              <a:solidFill>
                <a:srgbClr val="333355"/>
              </a:solidFill>
              <a:latin typeface="Times New Roman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71480" y="1684400"/>
            <a:ext cx="26232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E8A020"/>
                </a:solidFill>
                <a:latin typeface="Times New Roman"/>
              </a:rPr>
              <a:t>→ Устойчивость нормативного определения к случайным наблюдениям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64408" y="914400"/>
            <a:ext cx="2743200" cy="1737360"/>
          </a:xfrm>
          <a:prstGeom prst="rect">
            <a:avLst/>
          </a:prstGeom>
          <a:solidFill>
            <a:srgbClr val="F0F4FA"/>
          </a:solidFill>
          <a:ln w="250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64408" y="914400"/>
            <a:ext cx="2743200" cy="900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44408" y="929400"/>
            <a:ext cx="220000" cy="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8182E"/>
                </a:solidFill>
                <a:latin typeface="Times New Roman"/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4408" y="934400"/>
            <a:ext cx="2383200" cy="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8182E"/>
                </a:solidFill>
                <a:latin typeface="Times New Roman"/>
              </a:rPr>
              <a:t>Count-bypass  ·  Stage 3b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3552" y="1132740"/>
            <a:ext cx="262320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 err="1">
                <a:solidFill>
                  <a:srgbClr val="333355"/>
                </a:solidFill>
                <a:latin typeface="Times New Roman"/>
              </a:rPr>
              <a:t>Счётные</a:t>
            </a:r>
            <a:r>
              <a:rPr sz="1100" b="0" i="0" dirty="0">
                <a:solidFill>
                  <a:srgbClr val="333355"/>
                </a:solidFill>
                <a:latin typeface="Times New Roman"/>
              </a:rPr>
              <a:t> </a:t>
            </a:r>
            <a:r>
              <a:rPr sz="1100" b="0" i="0" dirty="0" err="1">
                <a:solidFill>
                  <a:srgbClr val="333355"/>
                </a:solidFill>
                <a:latin typeface="Times New Roman"/>
              </a:rPr>
              <a:t>вопросы</a:t>
            </a:r>
            <a:r>
              <a:rPr sz="1100" b="0" i="0" dirty="0">
                <a:solidFill>
                  <a:srgbClr val="333355"/>
                </a:solidFill>
                <a:latin typeface="Times New Roman"/>
              </a:rPr>
              <a:t> («exactly N») </a:t>
            </a:r>
            <a:r>
              <a:rPr sz="1100" b="0" i="0" dirty="0" err="1">
                <a:solidFill>
                  <a:srgbClr val="333355"/>
                </a:solidFill>
                <a:latin typeface="Times New Roman"/>
              </a:rPr>
              <a:t>не</a:t>
            </a:r>
            <a:r>
              <a:rPr sz="1100" b="0" i="0" dirty="0">
                <a:solidFill>
                  <a:srgbClr val="333355"/>
                </a:solidFill>
                <a:latin typeface="Times New Roman"/>
              </a:rPr>
              <a:t> </a:t>
            </a:r>
            <a:r>
              <a:rPr sz="1100" b="0" i="0" dirty="0" err="1">
                <a:solidFill>
                  <a:srgbClr val="333355"/>
                </a:solidFill>
                <a:latin typeface="Times New Roman"/>
              </a:rPr>
              <a:t>проходят</a:t>
            </a:r>
            <a:r>
              <a:rPr sz="1100" b="0" i="0" dirty="0">
                <a:solidFill>
                  <a:srgbClr val="333355"/>
                </a:solidFill>
                <a:latin typeface="Times New Roman"/>
              </a:rPr>
              <a:t> 80%-</a:t>
            </a:r>
            <a:r>
              <a:rPr sz="1100" b="0" i="0" dirty="0" err="1">
                <a:solidFill>
                  <a:srgbClr val="333355"/>
                </a:solidFill>
                <a:latin typeface="Times New Roman"/>
              </a:rPr>
              <a:t>порог</a:t>
            </a:r>
            <a:r>
              <a:rPr sz="1100" b="0" i="0" dirty="0">
                <a:solidFill>
                  <a:srgbClr val="333355"/>
                </a:solidFill>
                <a:latin typeface="Times New Roman"/>
              </a:rPr>
              <a:t> </a:t>
            </a:r>
            <a:r>
              <a:rPr sz="1100" b="0" i="0" dirty="0" err="1">
                <a:solidFill>
                  <a:srgbClr val="333355"/>
                </a:solidFill>
                <a:latin typeface="Times New Roman"/>
              </a:rPr>
              <a:t>фильтрации</a:t>
            </a:r>
            <a:r>
              <a:rPr sz="1100" b="0" i="0" dirty="0">
                <a:solidFill>
                  <a:srgbClr val="333355"/>
                </a:solidFill>
                <a:latin typeface="Times New Roman"/>
              </a:rPr>
              <a:t> </a:t>
            </a:r>
            <a:r>
              <a:rPr sz="1100" b="0" i="0" dirty="0" err="1">
                <a:solidFill>
                  <a:srgbClr val="333355"/>
                </a:solidFill>
                <a:latin typeface="Times New Roman"/>
              </a:rPr>
              <a:t>на</a:t>
            </a:r>
            <a:r>
              <a:rPr sz="1100" b="0" i="0" dirty="0">
                <a:solidFill>
                  <a:srgbClr val="333355"/>
                </a:solidFill>
                <a:latin typeface="Times New Roman"/>
              </a:rPr>
              <a:t> </a:t>
            </a:r>
            <a:r>
              <a:rPr sz="1100" b="0" i="0" dirty="0" err="1">
                <a:solidFill>
                  <a:srgbClr val="333355"/>
                </a:solidFill>
                <a:latin typeface="Times New Roman"/>
              </a:rPr>
              <a:t>val-изображениях</a:t>
            </a:r>
            <a:endParaRPr sz="1100" b="0" i="0" dirty="0">
              <a:solidFill>
                <a:srgbClr val="333355"/>
              </a:solidFill>
              <a:latin typeface="Times New Roman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324408" y="1684400"/>
            <a:ext cx="26232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E8A020"/>
                </a:solidFill>
                <a:latin typeface="Times New Roman"/>
              </a:rPr>
              <a:t>→ VLM систематически ошибается в счёте → без bypass теряются ключевые вопросы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17336" y="914400"/>
            <a:ext cx="2743200" cy="1737360"/>
          </a:xfrm>
          <a:prstGeom prst="rect">
            <a:avLst/>
          </a:prstGeom>
          <a:solidFill>
            <a:srgbClr val="F0F4FA"/>
          </a:solidFill>
          <a:ln w="2500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17336" y="914400"/>
            <a:ext cx="2743200" cy="90000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97336" y="929400"/>
            <a:ext cx="220000" cy="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8182E"/>
                </a:solidFill>
                <a:latin typeface="Times New Roman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7336" y="934400"/>
            <a:ext cx="2383200" cy="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8182E"/>
                </a:solidFill>
                <a:latin typeface="Times New Roman"/>
              </a:rPr>
              <a:t>Stem-matching  ·  Stage 3b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7336" y="1161560"/>
            <a:ext cx="262320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 err="1">
                <a:solidFill>
                  <a:srgbClr val="333355"/>
                </a:solidFill>
                <a:latin typeface="Times New Roman"/>
              </a:rPr>
              <a:t>Лемматизация</a:t>
            </a:r>
            <a:r>
              <a:rPr sz="1100" b="0" i="0" dirty="0">
                <a:solidFill>
                  <a:srgbClr val="333355"/>
                </a:solidFill>
                <a:latin typeface="Times New Roman"/>
              </a:rPr>
              <a:t> </a:t>
            </a:r>
            <a:r>
              <a:rPr sz="1100" b="0" i="0" dirty="0" err="1">
                <a:solidFill>
                  <a:srgbClr val="333355"/>
                </a:solidFill>
                <a:latin typeface="Times New Roman"/>
              </a:rPr>
              <a:t>при</a:t>
            </a:r>
            <a:r>
              <a:rPr sz="1100" b="0" i="0" dirty="0">
                <a:solidFill>
                  <a:srgbClr val="333355"/>
                </a:solidFill>
                <a:latin typeface="Times New Roman"/>
              </a:rPr>
              <a:t> </a:t>
            </a:r>
            <a:r>
              <a:rPr sz="1100" b="0" i="0" dirty="0" err="1">
                <a:solidFill>
                  <a:srgbClr val="333355"/>
                </a:solidFill>
                <a:latin typeface="Times New Roman"/>
              </a:rPr>
              <a:t>парсинге</a:t>
            </a:r>
            <a:r>
              <a:rPr sz="1100" b="0" i="0" dirty="0">
                <a:solidFill>
                  <a:srgbClr val="333355"/>
                </a:solidFill>
                <a:latin typeface="Times New Roman"/>
              </a:rPr>
              <a:t> </a:t>
            </a:r>
            <a:r>
              <a:rPr sz="1100" b="0" i="0" dirty="0" err="1">
                <a:solidFill>
                  <a:srgbClr val="333355"/>
                </a:solidFill>
                <a:latin typeface="Times New Roman"/>
              </a:rPr>
              <a:t>ответа</a:t>
            </a:r>
            <a:r>
              <a:rPr sz="1100" b="0" i="0" dirty="0">
                <a:solidFill>
                  <a:srgbClr val="333355"/>
                </a:solidFill>
                <a:latin typeface="Times New Roman"/>
              </a:rPr>
              <a:t>: «</a:t>
            </a:r>
            <a:r>
              <a:rPr sz="1100" b="0" i="0" dirty="0" err="1">
                <a:solidFill>
                  <a:srgbClr val="333355"/>
                </a:solidFill>
                <a:latin typeface="Times New Roman"/>
              </a:rPr>
              <a:t>almonds»→«almond</a:t>
            </a:r>
            <a:r>
              <a:rPr sz="1100" b="0" i="0" dirty="0">
                <a:solidFill>
                  <a:srgbClr val="333355"/>
                </a:solidFill>
                <a:latin typeface="Times New Roman"/>
              </a:rPr>
              <a:t>», «</a:t>
            </a:r>
            <a:r>
              <a:rPr sz="1100" b="0" i="0" dirty="0" err="1">
                <a:solidFill>
                  <a:srgbClr val="333355"/>
                </a:solidFill>
                <a:latin typeface="Times New Roman"/>
              </a:rPr>
              <a:t>tangerines»→«tangerine</a:t>
            </a:r>
            <a:r>
              <a:rPr sz="1100" b="0" i="0" dirty="0">
                <a:solidFill>
                  <a:srgbClr val="333355"/>
                </a:solidFill>
                <a:latin typeface="Times New Roman"/>
              </a:rPr>
              <a:t>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7336" y="1684400"/>
            <a:ext cx="26232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E8A020"/>
                </a:solidFill>
                <a:latin typeface="Times New Roman"/>
              </a:rPr>
              <a:t>→ Устраняет грамматические ложные отклонения при поиске Yes/No-токена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92224" y="2788920"/>
            <a:ext cx="2743200" cy="1737360"/>
          </a:xfrm>
          <a:prstGeom prst="rect">
            <a:avLst/>
          </a:prstGeom>
          <a:solidFill>
            <a:srgbClr val="F0F4FA"/>
          </a:solidFill>
          <a:ln w="25000">
            <a:solidFill>
              <a:srgbClr val="276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792224" y="2788920"/>
            <a:ext cx="2743200" cy="90000"/>
          </a:xfrm>
          <a:prstGeom prst="rect">
            <a:avLst/>
          </a:prstGeom>
          <a:solidFill>
            <a:srgbClr val="276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872224" y="2803920"/>
            <a:ext cx="220000" cy="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8182E"/>
                </a:solidFill>
                <a:latin typeface="Times New Roman"/>
              </a:rPr>
              <a:t>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2224" y="2808920"/>
            <a:ext cx="2383200" cy="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8182E"/>
                </a:solidFill>
                <a:latin typeface="Times New Roman"/>
              </a:rPr>
              <a:t>Sub-Q аугментация ×4  ·  Stage 3c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62224" y="3037600"/>
            <a:ext cx="262320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 err="1">
                <a:solidFill>
                  <a:srgbClr val="333355"/>
                </a:solidFill>
                <a:latin typeface="Times New Roman"/>
              </a:rPr>
              <a:t>Каждый</a:t>
            </a:r>
            <a:r>
              <a:rPr sz="1100" b="0" i="0" dirty="0">
                <a:solidFill>
                  <a:srgbClr val="333355"/>
                </a:solidFill>
                <a:latin typeface="Times New Roman"/>
              </a:rPr>
              <a:t> </a:t>
            </a:r>
            <a:r>
              <a:rPr sz="1100" b="0" i="0" dirty="0" err="1">
                <a:solidFill>
                  <a:srgbClr val="333355"/>
                </a:solidFill>
                <a:latin typeface="Times New Roman"/>
              </a:rPr>
              <a:t>вопрос</a:t>
            </a:r>
            <a:r>
              <a:rPr sz="1100" b="0" i="0" dirty="0">
                <a:solidFill>
                  <a:srgbClr val="333355"/>
                </a:solidFill>
                <a:latin typeface="Times New Roman"/>
              </a:rPr>
              <a:t> </a:t>
            </a:r>
            <a:r>
              <a:rPr sz="1100" b="0" i="0" dirty="0" err="1">
                <a:solidFill>
                  <a:srgbClr val="333355"/>
                </a:solidFill>
                <a:latin typeface="Times New Roman"/>
              </a:rPr>
              <a:t>перефразируется</a:t>
            </a:r>
            <a:r>
              <a:rPr sz="1100" b="0" i="0" dirty="0">
                <a:solidFill>
                  <a:srgbClr val="333355"/>
                </a:solidFill>
                <a:latin typeface="Times New Roman"/>
              </a:rPr>
              <a:t> в 4 </a:t>
            </a:r>
            <a:r>
              <a:rPr sz="1100" b="0" i="0" dirty="0" err="1">
                <a:solidFill>
                  <a:srgbClr val="333355"/>
                </a:solidFill>
                <a:latin typeface="Times New Roman"/>
              </a:rPr>
              <a:t>варианта</a:t>
            </a:r>
            <a:r>
              <a:rPr sz="1100" b="0" i="0" dirty="0">
                <a:solidFill>
                  <a:srgbClr val="333355"/>
                </a:solidFill>
                <a:latin typeface="Times New Roman"/>
              </a:rPr>
              <a:t>; </a:t>
            </a:r>
            <a:r>
              <a:rPr sz="1100" b="0" i="0" dirty="0" err="1">
                <a:solidFill>
                  <a:srgbClr val="333355"/>
                </a:solidFill>
                <a:latin typeface="Times New Roman"/>
              </a:rPr>
              <a:t>финальный</a:t>
            </a:r>
            <a:r>
              <a:rPr sz="1100" b="0" i="0" dirty="0">
                <a:solidFill>
                  <a:srgbClr val="333355"/>
                </a:solidFill>
                <a:latin typeface="Times New Roman"/>
              </a:rPr>
              <a:t> </a:t>
            </a:r>
            <a:r>
              <a:rPr sz="1100" b="0" i="0" dirty="0" err="1">
                <a:solidFill>
                  <a:srgbClr val="333355"/>
                </a:solidFill>
                <a:latin typeface="Times New Roman"/>
              </a:rPr>
              <a:t>ответ</a:t>
            </a:r>
            <a:r>
              <a:rPr sz="1100" b="0" i="0" dirty="0">
                <a:solidFill>
                  <a:srgbClr val="333355"/>
                </a:solidFill>
                <a:latin typeface="Times New Roman"/>
              </a:rPr>
              <a:t> — majority vote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52224" y="3558920"/>
            <a:ext cx="26232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E8A020"/>
                </a:solidFill>
                <a:latin typeface="Times New Roman"/>
              </a:rPr>
              <a:t>→ +0.03–0.05 AUROC; устойчивость к поверхностным лингвистическим вариациям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45152" y="2788920"/>
            <a:ext cx="2743200" cy="1737360"/>
          </a:xfrm>
          <a:prstGeom prst="rect">
            <a:avLst/>
          </a:prstGeom>
          <a:solidFill>
            <a:srgbClr val="F0F4FA"/>
          </a:solidFill>
          <a:ln w="25000">
            <a:solidFill>
              <a:srgbClr val="1A6E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645152" y="2788920"/>
            <a:ext cx="2743200" cy="90000"/>
          </a:xfrm>
          <a:prstGeom prst="rect">
            <a:avLst/>
          </a:prstGeom>
          <a:solidFill>
            <a:srgbClr val="1A6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725152" y="2803920"/>
            <a:ext cx="220000" cy="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8182E"/>
                </a:solidFill>
                <a:latin typeface="Times New Roman"/>
              </a:rPr>
              <a:t>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55152" y="2808920"/>
            <a:ext cx="2383200" cy="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8182E"/>
                </a:solidFill>
                <a:latin typeface="Times New Roman"/>
              </a:rPr>
              <a:t>min_failures = 2  ·  Stage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15152" y="3037600"/>
            <a:ext cx="262320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 err="1">
                <a:solidFill>
                  <a:srgbClr val="333355"/>
                </a:solidFill>
                <a:latin typeface="Times New Roman"/>
              </a:rPr>
              <a:t>Аномалия</a:t>
            </a:r>
            <a:r>
              <a:rPr sz="1100" b="0" i="0" dirty="0">
                <a:solidFill>
                  <a:srgbClr val="333355"/>
                </a:solidFill>
                <a:latin typeface="Times New Roman"/>
              </a:rPr>
              <a:t>: ≥ 2 </a:t>
            </a:r>
            <a:r>
              <a:rPr sz="1100" b="0" i="0" dirty="0" err="1">
                <a:solidFill>
                  <a:srgbClr val="333355"/>
                </a:solidFill>
                <a:latin typeface="Times New Roman"/>
              </a:rPr>
              <a:t>основных</a:t>
            </a:r>
            <a:r>
              <a:rPr sz="1100" b="0" i="0" dirty="0">
                <a:solidFill>
                  <a:srgbClr val="333355"/>
                </a:solidFill>
                <a:latin typeface="Times New Roman"/>
              </a:rPr>
              <a:t> </a:t>
            </a:r>
            <a:r>
              <a:rPr sz="1100" b="0" i="0" dirty="0" err="1">
                <a:solidFill>
                  <a:srgbClr val="333355"/>
                </a:solidFill>
                <a:latin typeface="Times New Roman"/>
              </a:rPr>
              <a:t>вопроса</a:t>
            </a:r>
            <a:r>
              <a:rPr sz="1100" b="0" i="0" dirty="0">
                <a:solidFill>
                  <a:srgbClr val="333355"/>
                </a:solidFill>
                <a:latin typeface="Times New Roman"/>
              </a:rPr>
              <a:t> </a:t>
            </a:r>
            <a:r>
              <a:rPr sz="1100" b="0" i="0" dirty="0" err="1">
                <a:solidFill>
                  <a:srgbClr val="333355"/>
                </a:solidFill>
                <a:latin typeface="Times New Roman"/>
              </a:rPr>
              <a:t>получили</a:t>
            </a:r>
            <a:r>
              <a:rPr sz="1100" b="0" i="0" dirty="0">
                <a:solidFill>
                  <a:srgbClr val="333355"/>
                </a:solidFill>
                <a:latin typeface="Times New Roman"/>
              </a:rPr>
              <a:t> «No» (</a:t>
            </a:r>
            <a:r>
              <a:rPr sz="1100" b="0" i="0" dirty="0" err="1">
                <a:solidFill>
                  <a:srgbClr val="333355"/>
                </a:solidFill>
                <a:latin typeface="Times New Roman"/>
              </a:rPr>
              <a:t>вместо</a:t>
            </a:r>
            <a:r>
              <a:rPr sz="1100" b="0" i="0" dirty="0">
                <a:solidFill>
                  <a:srgbClr val="333355"/>
                </a:solidFill>
                <a:latin typeface="Times New Roman"/>
              </a:rPr>
              <a:t> </a:t>
            </a:r>
            <a:r>
              <a:rPr sz="1100" b="0" i="0" dirty="0" err="1">
                <a:solidFill>
                  <a:srgbClr val="333355"/>
                </a:solidFill>
                <a:latin typeface="Times New Roman"/>
              </a:rPr>
              <a:t>порога</a:t>
            </a:r>
            <a:r>
              <a:rPr sz="1100" b="0" i="0" dirty="0">
                <a:solidFill>
                  <a:srgbClr val="333355"/>
                </a:solidFill>
                <a:latin typeface="Times New Roman"/>
              </a:rPr>
              <a:t> = 1)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5152" y="3558920"/>
            <a:ext cx="26232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 dirty="0">
                <a:solidFill>
                  <a:srgbClr val="E8A020"/>
                </a:solidFill>
                <a:latin typeface="Times New Roman"/>
              </a:rPr>
              <a:t>→ FP: 22 → 12 — </a:t>
            </a:r>
            <a:r>
              <a:rPr sz="1100" b="0" i="1" dirty="0" err="1">
                <a:solidFill>
                  <a:srgbClr val="E8A020"/>
                </a:solidFill>
                <a:latin typeface="Times New Roman"/>
              </a:rPr>
              <a:t>отсекаем</a:t>
            </a:r>
            <a:r>
              <a:rPr sz="1100" b="0" i="1" dirty="0">
                <a:solidFill>
                  <a:srgbClr val="E8A020"/>
                </a:solidFill>
                <a:latin typeface="Times New Roman"/>
              </a:rPr>
              <a:t> </a:t>
            </a:r>
            <a:r>
              <a:rPr sz="1100" b="0" i="1" dirty="0" err="1">
                <a:solidFill>
                  <a:srgbClr val="E8A020"/>
                </a:solidFill>
                <a:latin typeface="Times New Roman"/>
              </a:rPr>
              <a:t>одиночные</a:t>
            </a:r>
            <a:r>
              <a:rPr sz="1100" b="0" i="1" dirty="0">
                <a:solidFill>
                  <a:srgbClr val="E8A020"/>
                </a:solidFill>
                <a:latin typeface="Times New Roman"/>
              </a:rPr>
              <a:t> </a:t>
            </a:r>
            <a:r>
              <a:rPr sz="1100" b="0" i="1" dirty="0" err="1">
                <a:solidFill>
                  <a:srgbClr val="E8A020"/>
                </a:solidFill>
                <a:latin typeface="Times New Roman"/>
              </a:rPr>
              <a:t>галлюцинации</a:t>
            </a:r>
            <a:r>
              <a:rPr sz="1100" b="0" i="1" dirty="0">
                <a:solidFill>
                  <a:srgbClr val="E8A020"/>
                </a:solidFill>
                <a:latin typeface="Times New Roman"/>
              </a:rPr>
              <a:t> </a:t>
            </a:r>
            <a:r>
              <a:rPr sz="1100" b="0" i="1" dirty="0" err="1">
                <a:solidFill>
                  <a:srgbClr val="E8A020"/>
                </a:solidFill>
                <a:latin typeface="Times New Roman"/>
              </a:rPr>
              <a:t>при</a:t>
            </a:r>
            <a:r>
              <a:rPr sz="1100" b="0" i="1" dirty="0">
                <a:solidFill>
                  <a:srgbClr val="E8A020"/>
                </a:solidFill>
                <a:latin typeface="Times New Roman"/>
              </a:rPr>
              <a:t> </a:t>
            </a:r>
            <a:r>
              <a:rPr sz="1100" b="0" i="1" dirty="0" err="1">
                <a:solidFill>
                  <a:srgbClr val="E8A020"/>
                </a:solidFill>
                <a:latin typeface="Times New Roman"/>
              </a:rPr>
              <a:t>несогласии</a:t>
            </a:r>
            <a:r>
              <a:rPr sz="1100" b="0" i="1" dirty="0">
                <a:solidFill>
                  <a:srgbClr val="E8A020"/>
                </a:solidFill>
                <a:latin typeface="Times New Roman"/>
              </a:rPr>
              <a:t> </a:t>
            </a:r>
            <a:r>
              <a:rPr sz="1100" b="0" i="1" dirty="0" err="1">
                <a:solidFill>
                  <a:srgbClr val="E8A020"/>
                </a:solidFill>
                <a:latin typeface="Times New Roman"/>
              </a:rPr>
              <a:t>вопросов</a:t>
            </a:r>
            <a:endParaRPr sz="1100" b="0" i="1" dirty="0">
              <a:solidFill>
                <a:srgbClr val="E8A02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8182E"/>
                </a:solidFill>
                <a:latin typeface="Times New Roman"/>
              </a:rPr>
              <a:t>Обоснование выбора метрик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77240"/>
            <a:ext cx="8321040" cy="40000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841248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A5A6A"/>
                </a:solidFill>
                <a:latin typeface="Times New Roman"/>
              </a:rPr>
              <a:t>Каждая метрика мотивирована внешней работой — не выбрана произвольно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88720"/>
            <a:ext cx="60000" cy="730000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338720"/>
            <a:ext cx="420000" cy="350000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8182E"/>
                </a:solidFill>
                <a:latin typeface="Times New Roman"/>
              </a:rPr>
              <a:t>L1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228720"/>
            <a:ext cx="20116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8182E"/>
                </a:solidFill>
                <a:latin typeface="Times New Roman"/>
              </a:rPr>
              <a:t>CLIPScore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618720"/>
            <a:ext cx="201168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A86C8"/>
                </a:solidFill>
                <a:latin typeface="Times New Roman"/>
              </a:rPr>
              <a:t>CLIP ViT-B/32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228720"/>
            <a:ext cx="32004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A020"/>
                </a:solidFill>
                <a:latin typeface="Times New Roman"/>
              </a:rPr>
              <a:t>[Hessel et al., EMNLP 2021]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503720"/>
            <a:ext cx="54864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333355"/>
                </a:solidFill>
                <a:latin typeface="Times New Roman"/>
              </a:rPr>
              <a:t>Reference-free </a:t>
            </a:r>
            <a:r>
              <a:rPr sz="1100" b="0" i="0" dirty="0" err="1">
                <a:solidFill>
                  <a:srgbClr val="333355"/>
                </a:solidFill>
                <a:latin typeface="Times New Roman"/>
              </a:rPr>
              <a:t>метрика</a:t>
            </a:r>
            <a:r>
              <a:rPr sz="1100" b="0" i="0" dirty="0">
                <a:solidFill>
                  <a:srgbClr val="333355"/>
                </a:solidFill>
                <a:latin typeface="Times New Roman"/>
              </a:rPr>
              <a:t> </a:t>
            </a:r>
            <a:r>
              <a:rPr sz="1100" b="0" i="0" dirty="0" err="1">
                <a:solidFill>
                  <a:srgbClr val="333355"/>
                </a:solidFill>
                <a:latin typeface="Times New Roman"/>
              </a:rPr>
              <a:t>семантического</a:t>
            </a:r>
            <a:r>
              <a:rPr sz="1100" b="0" i="0" dirty="0">
                <a:solidFill>
                  <a:srgbClr val="333355"/>
                </a:solidFill>
                <a:latin typeface="Times New Roman"/>
              </a:rPr>
              <a:t> </a:t>
            </a:r>
            <a:r>
              <a:rPr sz="1100" b="0" i="0" dirty="0" err="1">
                <a:solidFill>
                  <a:srgbClr val="333355"/>
                </a:solidFill>
                <a:latin typeface="Times New Roman"/>
              </a:rPr>
              <a:t>сходства</a:t>
            </a:r>
            <a:r>
              <a:rPr sz="1100" b="0" i="0" dirty="0">
                <a:solidFill>
                  <a:srgbClr val="333355"/>
                </a:solidFill>
                <a:latin typeface="Times New Roman"/>
              </a:rPr>
              <a:t> </a:t>
            </a:r>
            <a:r>
              <a:rPr sz="1100" b="0" i="0" dirty="0" err="1">
                <a:solidFill>
                  <a:srgbClr val="333355"/>
                </a:solidFill>
                <a:latin typeface="Times New Roman"/>
              </a:rPr>
              <a:t>текст</a:t>
            </a:r>
            <a:r>
              <a:rPr sz="1100" b="0" i="0" dirty="0">
                <a:solidFill>
                  <a:srgbClr val="333355"/>
                </a:solidFill>
                <a:latin typeface="Times New Roman"/>
              </a:rPr>
              <a:t>–</a:t>
            </a:r>
            <a:r>
              <a:rPr sz="1100" b="0" i="0" dirty="0" err="1">
                <a:solidFill>
                  <a:srgbClr val="333355"/>
                </a:solidFill>
                <a:latin typeface="Times New Roman"/>
              </a:rPr>
              <a:t>изображение</a:t>
            </a:r>
            <a:r>
              <a:rPr sz="1100" b="0" i="0" dirty="0">
                <a:solidFill>
                  <a:srgbClr val="333355"/>
                </a:solidFill>
                <a:latin typeface="Times New Roman"/>
              </a:rPr>
              <a:t>; </a:t>
            </a:r>
            <a:r>
              <a:rPr sz="1100" b="0" i="0" dirty="0" err="1">
                <a:solidFill>
                  <a:srgbClr val="333355"/>
                </a:solidFill>
                <a:latin typeface="Times New Roman"/>
              </a:rPr>
              <a:t>широко</a:t>
            </a:r>
            <a:r>
              <a:rPr sz="1100" b="0" i="0" dirty="0">
                <a:solidFill>
                  <a:srgbClr val="333355"/>
                </a:solidFill>
                <a:latin typeface="Times New Roman"/>
              </a:rPr>
              <a:t> </a:t>
            </a:r>
            <a:r>
              <a:rPr sz="1100" b="0" i="0" dirty="0" err="1">
                <a:solidFill>
                  <a:srgbClr val="333355"/>
                </a:solidFill>
                <a:latin typeface="Times New Roman"/>
              </a:rPr>
              <a:t>принята</a:t>
            </a:r>
            <a:r>
              <a:rPr sz="1100" b="0" i="0" dirty="0">
                <a:solidFill>
                  <a:srgbClr val="333355"/>
                </a:solidFill>
                <a:latin typeface="Times New Roman"/>
              </a:rPr>
              <a:t> </a:t>
            </a:r>
            <a:r>
              <a:rPr sz="1100" b="0" i="0" dirty="0" err="1">
                <a:solidFill>
                  <a:srgbClr val="333355"/>
                </a:solidFill>
                <a:latin typeface="Times New Roman"/>
              </a:rPr>
              <a:t>как</a:t>
            </a:r>
            <a:r>
              <a:rPr sz="1100" b="0" i="0" dirty="0">
                <a:solidFill>
                  <a:srgbClr val="333355"/>
                </a:solidFill>
                <a:latin typeface="Times New Roman"/>
              </a:rPr>
              <a:t> </a:t>
            </a:r>
            <a:r>
              <a:rPr sz="1100" b="0" i="0" dirty="0" err="1">
                <a:solidFill>
                  <a:srgbClr val="333355"/>
                </a:solidFill>
                <a:latin typeface="Times New Roman"/>
              </a:rPr>
              <a:t>стандарт</a:t>
            </a:r>
            <a:r>
              <a:rPr sz="1100" b="0" i="0" dirty="0">
                <a:solidFill>
                  <a:srgbClr val="333355"/>
                </a:solidFill>
                <a:latin typeface="Times New Roman"/>
              </a:rPr>
              <a:t> </a:t>
            </a:r>
            <a:r>
              <a:rPr sz="1100" b="0" i="0" dirty="0" err="1">
                <a:solidFill>
                  <a:srgbClr val="333355"/>
                </a:solidFill>
                <a:latin typeface="Times New Roman"/>
              </a:rPr>
              <a:t>оценки</a:t>
            </a:r>
            <a:r>
              <a:rPr sz="1100" b="0" i="0" dirty="0">
                <a:solidFill>
                  <a:srgbClr val="333355"/>
                </a:solidFill>
                <a:latin typeface="Times New Roman"/>
              </a:rPr>
              <a:t> </a:t>
            </a:r>
            <a:r>
              <a:rPr sz="1100" b="0" i="0" dirty="0" err="1">
                <a:solidFill>
                  <a:srgbClr val="333355"/>
                </a:solidFill>
                <a:latin typeface="Times New Roman"/>
              </a:rPr>
              <a:t>качества</a:t>
            </a:r>
            <a:r>
              <a:rPr sz="1100" b="0" i="0" dirty="0">
                <a:solidFill>
                  <a:srgbClr val="333355"/>
                </a:solidFill>
                <a:latin typeface="Times New Roman"/>
              </a:rPr>
              <a:t> </a:t>
            </a:r>
            <a:r>
              <a:rPr sz="1100" b="0" i="0" dirty="0" err="1">
                <a:solidFill>
                  <a:srgbClr val="333355"/>
                </a:solidFill>
                <a:latin typeface="Times New Roman"/>
              </a:rPr>
              <a:t>описаний</a:t>
            </a:r>
            <a:endParaRPr sz="1100" b="0" i="0" dirty="0">
              <a:solidFill>
                <a:srgbClr val="333355"/>
              </a:solidFill>
              <a:latin typeface="Times New Roman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11480" y="1923720"/>
            <a:ext cx="8321040" cy="18000"/>
          </a:xfrm>
          <a:prstGeom prst="rect">
            <a:avLst/>
          </a:prstGeom>
          <a:solidFill>
            <a:srgbClr val="CCC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1480" y="1948720"/>
            <a:ext cx="60000" cy="730000"/>
          </a:xfrm>
          <a:prstGeom prst="rect">
            <a:avLst/>
          </a:prstGeom>
          <a:solidFill>
            <a:srgbClr val="16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2098720"/>
            <a:ext cx="420000" cy="350000"/>
          </a:xfrm>
          <a:prstGeom prst="rect">
            <a:avLst/>
          </a:prstGeom>
          <a:solidFill>
            <a:srgbClr val="16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8182E"/>
                </a:solidFill>
                <a:latin typeface="Times New Roman"/>
              </a:rPr>
              <a:t>L1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1988720"/>
            <a:ext cx="20116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8182E"/>
                </a:solidFill>
                <a:latin typeface="Times New Roman"/>
              </a:rPr>
              <a:t>CCR  (LLM-as-Judge)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378720"/>
            <a:ext cx="201168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67A8A"/>
                </a:solidFill>
                <a:latin typeface="Times New Roman"/>
              </a:rPr>
              <a:t>MT-Bench · Prometheus-Vision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1988720"/>
            <a:ext cx="32004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A020"/>
                </a:solidFill>
                <a:latin typeface="Times New Roman"/>
              </a:rPr>
              <a:t>[Zheng et al., NeurIPS 2023]  [Lee et al., ACL 2024]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235602"/>
            <a:ext cx="54864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333355"/>
                </a:solidFill>
                <a:latin typeface="Times New Roman"/>
              </a:rPr>
              <a:t>VLM-as-Judge </a:t>
            </a:r>
            <a:r>
              <a:rPr sz="1100" b="0" i="0" dirty="0" err="1">
                <a:solidFill>
                  <a:srgbClr val="333355"/>
                </a:solidFill>
                <a:latin typeface="Times New Roman"/>
              </a:rPr>
              <a:t>коррелирует</a:t>
            </a:r>
            <a:r>
              <a:rPr sz="1100" b="0" i="0" dirty="0">
                <a:solidFill>
                  <a:srgbClr val="333355"/>
                </a:solidFill>
                <a:latin typeface="Times New Roman"/>
              </a:rPr>
              <a:t> с </a:t>
            </a:r>
            <a:r>
              <a:rPr sz="1100" b="0" i="0" dirty="0" err="1">
                <a:solidFill>
                  <a:srgbClr val="333355"/>
                </a:solidFill>
                <a:latin typeface="Times New Roman"/>
              </a:rPr>
              <a:t>оценками</a:t>
            </a:r>
            <a:r>
              <a:rPr sz="1100" b="0" i="0" dirty="0">
                <a:solidFill>
                  <a:srgbClr val="333355"/>
                </a:solidFill>
                <a:latin typeface="Times New Roman"/>
              </a:rPr>
              <a:t> </a:t>
            </a:r>
            <a:r>
              <a:rPr sz="1100" b="0" i="0" dirty="0" err="1">
                <a:solidFill>
                  <a:srgbClr val="333355"/>
                </a:solidFill>
                <a:latin typeface="Times New Roman"/>
              </a:rPr>
              <a:t>людей</a:t>
            </a:r>
            <a:r>
              <a:rPr sz="1100" b="0" i="0" dirty="0">
                <a:solidFill>
                  <a:srgbClr val="333355"/>
                </a:solidFill>
                <a:latin typeface="Times New Roman"/>
              </a:rPr>
              <a:t> </a:t>
            </a:r>
            <a:r>
              <a:rPr sz="1100" b="0" i="0" dirty="0" err="1">
                <a:solidFill>
                  <a:srgbClr val="333355"/>
                </a:solidFill>
                <a:latin typeface="Times New Roman"/>
              </a:rPr>
              <a:t>лучше</a:t>
            </a:r>
            <a:r>
              <a:rPr sz="1100" b="0" i="0" dirty="0">
                <a:solidFill>
                  <a:srgbClr val="333355"/>
                </a:solidFill>
                <a:latin typeface="Times New Roman"/>
              </a:rPr>
              <a:t>, </a:t>
            </a:r>
            <a:r>
              <a:rPr sz="1100" b="0" i="0" dirty="0" err="1">
                <a:solidFill>
                  <a:srgbClr val="333355"/>
                </a:solidFill>
                <a:latin typeface="Times New Roman"/>
              </a:rPr>
              <a:t>чем</a:t>
            </a:r>
            <a:r>
              <a:rPr sz="1100" b="0" i="0" dirty="0">
                <a:solidFill>
                  <a:srgbClr val="333355"/>
                </a:solidFill>
                <a:latin typeface="Times New Roman"/>
              </a:rPr>
              <a:t> text-match </a:t>
            </a:r>
            <a:r>
              <a:rPr sz="1100" b="0" i="0" dirty="0" err="1">
                <a:solidFill>
                  <a:srgbClr val="333355"/>
                </a:solidFill>
                <a:latin typeface="Times New Roman"/>
              </a:rPr>
              <a:t>метрики</a:t>
            </a:r>
            <a:r>
              <a:rPr sz="1100" b="0" i="0" dirty="0">
                <a:solidFill>
                  <a:srgbClr val="333355"/>
                </a:solidFill>
                <a:latin typeface="Times New Roman"/>
              </a:rPr>
              <a:t>; Prometheus-Vision — </a:t>
            </a:r>
            <a:r>
              <a:rPr sz="1100" b="0" i="0" dirty="0" err="1">
                <a:solidFill>
                  <a:srgbClr val="333355"/>
                </a:solidFill>
                <a:latin typeface="Times New Roman"/>
              </a:rPr>
              <a:t>наивысшая</a:t>
            </a:r>
            <a:r>
              <a:rPr sz="1100" b="0" i="0" dirty="0">
                <a:solidFill>
                  <a:srgbClr val="333355"/>
                </a:solidFill>
                <a:latin typeface="Times New Roman"/>
              </a:rPr>
              <a:t> </a:t>
            </a:r>
            <a:r>
              <a:rPr sz="1100" b="0" i="0" dirty="0" err="1">
                <a:solidFill>
                  <a:srgbClr val="333355"/>
                </a:solidFill>
                <a:latin typeface="Times New Roman"/>
              </a:rPr>
              <a:t>корреляция</a:t>
            </a:r>
            <a:r>
              <a:rPr sz="1100" b="0" i="0" dirty="0">
                <a:solidFill>
                  <a:srgbClr val="333355"/>
                </a:solidFill>
                <a:latin typeface="Times New Roman"/>
              </a:rPr>
              <a:t> </a:t>
            </a:r>
            <a:r>
              <a:rPr sz="1100" b="0" i="0" dirty="0" err="1">
                <a:solidFill>
                  <a:srgbClr val="333355"/>
                </a:solidFill>
                <a:latin typeface="Times New Roman"/>
              </a:rPr>
              <a:t>Пирсона</a:t>
            </a:r>
            <a:r>
              <a:rPr sz="1100" b="0" i="0" dirty="0">
                <a:solidFill>
                  <a:srgbClr val="333355"/>
                </a:solidFill>
                <a:latin typeface="Times New Roman"/>
              </a:rPr>
              <a:t> </a:t>
            </a:r>
            <a:r>
              <a:rPr sz="1100" b="0" i="0" dirty="0" err="1">
                <a:solidFill>
                  <a:srgbClr val="333355"/>
                </a:solidFill>
                <a:latin typeface="Times New Roman"/>
              </a:rPr>
              <a:t>среди</a:t>
            </a:r>
            <a:r>
              <a:rPr sz="1100" b="0" i="0" dirty="0">
                <a:solidFill>
                  <a:srgbClr val="333355"/>
                </a:solidFill>
                <a:latin typeface="Times New Roman"/>
              </a:rPr>
              <a:t> open-source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2683720"/>
            <a:ext cx="8321040" cy="18000"/>
          </a:xfrm>
          <a:prstGeom prst="rect">
            <a:avLst/>
          </a:prstGeom>
          <a:solidFill>
            <a:srgbClr val="CCC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11480" y="2708720"/>
            <a:ext cx="60000" cy="7300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48640" y="2858720"/>
            <a:ext cx="420000" cy="3500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8182E"/>
                </a:solidFill>
                <a:latin typeface="Times New Roman"/>
              </a:rPr>
              <a:t>L2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2748720"/>
            <a:ext cx="20116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8182E"/>
                </a:solidFill>
                <a:latin typeface="Times New Roman"/>
              </a:rPr>
              <a:t>MACE · SRA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3138720"/>
            <a:ext cx="201168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E44AD"/>
                </a:solidFill>
                <a:latin typeface="Times New Roman"/>
              </a:rPr>
              <a:t>What's 'up' · VALOR-EVAL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2748720"/>
            <a:ext cx="363649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E8A020"/>
                </a:solidFill>
                <a:latin typeface="Times New Roman"/>
              </a:rPr>
              <a:t>[Kamath et al., EMNLP 2023]  [Dou &amp; Peng, ACL 2024]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3023720"/>
            <a:ext cx="54864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333355"/>
                </a:solidFill>
                <a:latin typeface="Times New Roman"/>
              </a:rPr>
              <a:t>VLM </a:t>
            </a:r>
            <a:r>
              <a:rPr sz="1100" b="0" i="0" dirty="0" err="1">
                <a:solidFill>
                  <a:srgbClr val="333355"/>
                </a:solidFill>
                <a:latin typeface="Times New Roman"/>
              </a:rPr>
              <a:t>достигают</a:t>
            </a:r>
            <a:r>
              <a:rPr sz="1100" b="0" i="0" dirty="0">
                <a:solidFill>
                  <a:srgbClr val="333355"/>
                </a:solidFill>
                <a:latin typeface="Times New Roman"/>
              </a:rPr>
              <a:t> 56% </a:t>
            </a:r>
            <a:r>
              <a:rPr sz="1100" b="0" i="0" dirty="0" err="1">
                <a:solidFill>
                  <a:srgbClr val="333355"/>
                </a:solidFill>
                <a:latin typeface="Times New Roman"/>
              </a:rPr>
              <a:t>точности</a:t>
            </a:r>
            <a:r>
              <a:rPr sz="1100" b="0" i="0" dirty="0">
                <a:solidFill>
                  <a:srgbClr val="333355"/>
                </a:solidFill>
                <a:latin typeface="Times New Roman"/>
              </a:rPr>
              <a:t> </a:t>
            </a:r>
            <a:r>
              <a:rPr sz="1100" b="0" i="0" dirty="0" err="1">
                <a:solidFill>
                  <a:srgbClr val="333355"/>
                </a:solidFill>
                <a:latin typeface="Times New Roman"/>
              </a:rPr>
              <a:t>на</a:t>
            </a:r>
            <a:r>
              <a:rPr sz="1100" b="0" i="0" dirty="0">
                <a:solidFill>
                  <a:srgbClr val="333355"/>
                </a:solidFill>
                <a:latin typeface="Times New Roman"/>
              </a:rPr>
              <a:t> </a:t>
            </a:r>
            <a:r>
              <a:rPr sz="1100" b="0" i="0" dirty="0" err="1">
                <a:solidFill>
                  <a:srgbClr val="333355"/>
                </a:solidFill>
                <a:latin typeface="Times New Roman"/>
              </a:rPr>
              <a:t>пространственных</a:t>
            </a:r>
            <a:r>
              <a:rPr sz="1100" b="0" i="0" dirty="0">
                <a:solidFill>
                  <a:srgbClr val="333355"/>
                </a:solidFill>
                <a:latin typeface="Times New Roman"/>
              </a:rPr>
              <a:t> </a:t>
            </a:r>
            <a:r>
              <a:rPr sz="1100" b="0" i="0" dirty="0" err="1">
                <a:solidFill>
                  <a:srgbClr val="333355"/>
                </a:solidFill>
                <a:latin typeface="Times New Roman"/>
              </a:rPr>
              <a:t>задачах</a:t>
            </a:r>
            <a:r>
              <a:rPr sz="1100" b="0" i="0" dirty="0">
                <a:solidFill>
                  <a:srgbClr val="333355"/>
                </a:solidFill>
                <a:latin typeface="Times New Roman"/>
              </a:rPr>
              <a:t> vs 99% </a:t>
            </a:r>
            <a:r>
              <a:rPr sz="1100" b="0" i="0" dirty="0" err="1">
                <a:solidFill>
                  <a:srgbClr val="333355"/>
                </a:solidFill>
                <a:latin typeface="Times New Roman"/>
              </a:rPr>
              <a:t>людей</a:t>
            </a:r>
            <a:r>
              <a:rPr sz="1100" b="0" i="0" dirty="0">
                <a:solidFill>
                  <a:srgbClr val="333355"/>
                </a:solidFill>
                <a:latin typeface="Times New Roman"/>
              </a:rPr>
              <a:t>; VALOR-EVAL </a:t>
            </a:r>
            <a:r>
              <a:rPr sz="1100" b="0" i="0" dirty="0" err="1">
                <a:solidFill>
                  <a:srgbClr val="333355"/>
                </a:solidFill>
                <a:latin typeface="Times New Roman"/>
              </a:rPr>
              <a:t>показал</a:t>
            </a:r>
            <a:r>
              <a:rPr sz="1100" b="0" i="0" dirty="0">
                <a:solidFill>
                  <a:srgbClr val="333355"/>
                </a:solidFill>
                <a:latin typeface="Times New Roman"/>
              </a:rPr>
              <a:t>: </a:t>
            </a:r>
            <a:r>
              <a:rPr sz="1100" b="0" i="0" dirty="0" err="1">
                <a:solidFill>
                  <a:srgbClr val="333355"/>
                </a:solidFill>
                <a:latin typeface="Times New Roman"/>
              </a:rPr>
              <a:t>объектных</a:t>
            </a:r>
            <a:r>
              <a:rPr sz="1100" b="0" i="0" dirty="0">
                <a:solidFill>
                  <a:srgbClr val="333355"/>
                </a:solidFill>
                <a:latin typeface="Times New Roman"/>
              </a:rPr>
              <a:t> </a:t>
            </a:r>
            <a:r>
              <a:rPr sz="1100" b="0" i="0" dirty="0" err="1">
                <a:solidFill>
                  <a:srgbClr val="333355"/>
                </a:solidFill>
                <a:latin typeface="Times New Roman"/>
              </a:rPr>
              <a:t>метрик</a:t>
            </a:r>
            <a:r>
              <a:rPr sz="1100" b="0" i="0" dirty="0">
                <a:solidFill>
                  <a:srgbClr val="333355"/>
                </a:solidFill>
                <a:latin typeface="Times New Roman"/>
              </a:rPr>
              <a:t> </a:t>
            </a:r>
            <a:r>
              <a:rPr sz="1100" b="0" i="0" dirty="0" err="1">
                <a:solidFill>
                  <a:srgbClr val="333355"/>
                </a:solidFill>
                <a:latin typeface="Times New Roman"/>
              </a:rPr>
              <a:t>недостаточно</a:t>
            </a:r>
            <a:r>
              <a:rPr sz="1100" b="0" i="0" dirty="0">
                <a:solidFill>
                  <a:srgbClr val="333355"/>
                </a:solidFill>
                <a:latin typeface="Times New Roman"/>
              </a:rPr>
              <a:t>, </a:t>
            </a:r>
            <a:r>
              <a:rPr sz="1100" b="0" i="0" dirty="0" err="1">
                <a:solidFill>
                  <a:srgbClr val="333355"/>
                </a:solidFill>
                <a:latin typeface="Times New Roman"/>
              </a:rPr>
              <a:t>нужны</a:t>
            </a:r>
            <a:r>
              <a:rPr sz="1100" b="0" i="0" dirty="0">
                <a:solidFill>
                  <a:srgbClr val="333355"/>
                </a:solidFill>
                <a:latin typeface="Times New Roman"/>
              </a:rPr>
              <a:t> </a:t>
            </a:r>
            <a:r>
              <a:rPr sz="1100" b="0" i="0" dirty="0" err="1">
                <a:solidFill>
                  <a:srgbClr val="333355"/>
                </a:solidFill>
                <a:latin typeface="Times New Roman"/>
              </a:rPr>
              <a:t>атрибуты</a:t>
            </a:r>
            <a:r>
              <a:rPr sz="1100" b="0" i="0" dirty="0">
                <a:solidFill>
                  <a:srgbClr val="333355"/>
                </a:solidFill>
                <a:latin typeface="Times New Roman"/>
              </a:rPr>
              <a:t> и </a:t>
            </a:r>
            <a:r>
              <a:rPr sz="1100" b="0" i="0" dirty="0" err="1">
                <a:solidFill>
                  <a:srgbClr val="333355"/>
                </a:solidFill>
                <a:latin typeface="Times New Roman"/>
              </a:rPr>
              <a:t>отношения</a:t>
            </a:r>
            <a:endParaRPr sz="1100" b="0" i="0" dirty="0">
              <a:solidFill>
                <a:srgbClr val="333355"/>
              </a:solidFill>
              <a:latin typeface="Times New Roman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411480" y="3443720"/>
            <a:ext cx="8321040" cy="18000"/>
          </a:xfrm>
          <a:prstGeom prst="rect">
            <a:avLst/>
          </a:prstGeom>
          <a:solidFill>
            <a:srgbClr val="CCC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11480" y="3468720"/>
            <a:ext cx="60000" cy="730000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48640" y="3618720"/>
            <a:ext cx="420000" cy="350000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8182E"/>
                </a:solidFill>
                <a:latin typeface="Times New Roman"/>
              </a:rPr>
              <a:t>L1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3508720"/>
            <a:ext cx="20116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8182E"/>
                </a:solidFill>
                <a:latin typeface="Times New Roman"/>
              </a:rPr>
              <a:t>FaithScore / CCR-atomic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3898720"/>
            <a:ext cx="201168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35400"/>
                </a:solidFill>
                <a:latin typeface="Times New Roman"/>
              </a:rPr>
              <a:t>FaithScore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3508720"/>
            <a:ext cx="32004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A020"/>
                </a:solidFill>
                <a:latin typeface="Times New Roman"/>
              </a:rPr>
              <a:t>[Jing et al., arXiv 2023]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1840" y="3783720"/>
            <a:ext cx="54864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 err="1">
                <a:solidFill>
                  <a:srgbClr val="333355"/>
                </a:solidFill>
                <a:latin typeface="Times New Roman"/>
              </a:rPr>
              <a:t>Атомарная</a:t>
            </a:r>
            <a:r>
              <a:rPr sz="1100" b="0" i="0" dirty="0">
                <a:solidFill>
                  <a:srgbClr val="333355"/>
                </a:solidFill>
                <a:latin typeface="Times New Roman"/>
              </a:rPr>
              <a:t> </a:t>
            </a:r>
            <a:r>
              <a:rPr sz="1100" b="0" i="0" dirty="0" err="1">
                <a:solidFill>
                  <a:srgbClr val="333355"/>
                </a:solidFill>
                <a:latin typeface="Times New Roman"/>
              </a:rPr>
              <a:t>верификация</a:t>
            </a:r>
            <a:r>
              <a:rPr sz="1100" b="0" i="0" dirty="0">
                <a:solidFill>
                  <a:srgbClr val="333355"/>
                </a:solidFill>
                <a:latin typeface="Times New Roman"/>
              </a:rPr>
              <a:t> </a:t>
            </a:r>
            <a:r>
              <a:rPr sz="1100" b="0" i="0" dirty="0" err="1">
                <a:solidFill>
                  <a:srgbClr val="333355"/>
                </a:solidFill>
                <a:latin typeface="Times New Roman"/>
              </a:rPr>
              <a:t>фактов</a:t>
            </a:r>
            <a:r>
              <a:rPr sz="1100" b="0" i="0" dirty="0">
                <a:solidFill>
                  <a:srgbClr val="333355"/>
                </a:solidFill>
                <a:latin typeface="Times New Roman"/>
              </a:rPr>
              <a:t> </a:t>
            </a:r>
            <a:r>
              <a:rPr sz="1100" b="0" i="0" dirty="0" err="1">
                <a:solidFill>
                  <a:srgbClr val="333355"/>
                </a:solidFill>
                <a:latin typeface="Times New Roman"/>
              </a:rPr>
              <a:t>без</a:t>
            </a:r>
            <a:r>
              <a:rPr sz="1100" b="0" i="0" dirty="0">
                <a:solidFill>
                  <a:srgbClr val="333355"/>
                </a:solidFill>
                <a:latin typeface="Times New Roman"/>
              </a:rPr>
              <a:t> </a:t>
            </a:r>
            <a:r>
              <a:rPr sz="1100" b="0" i="0" dirty="0" err="1">
                <a:solidFill>
                  <a:srgbClr val="333355"/>
                </a:solidFill>
                <a:latin typeface="Times New Roman"/>
              </a:rPr>
              <a:t>эталона</a:t>
            </a:r>
            <a:r>
              <a:rPr sz="1100" b="0" i="0" dirty="0">
                <a:solidFill>
                  <a:srgbClr val="333355"/>
                </a:solidFill>
                <a:latin typeface="Times New Roman"/>
              </a:rPr>
              <a:t> </a:t>
            </a:r>
            <a:r>
              <a:rPr sz="1100" b="0" i="0" dirty="0" err="1">
                <a:solidFill>
                  <a:srgbClr val="333355"/>
                </a:solidFill>
                <a:latin typeface="Times New Roman"/>
              </a:rPr>
              <a:t>коррелирует</a:t>
            </a:r>
            <a:r>
              <a:rPr sz="1100" b="0" i="0" dirty="0">
                <a:solidFill>
                  <a:srgbClr val="333355"/>
                </a:solidFill>
                <a:latin typeface="Times New Roman"/>
              </a:rPr>
              <a:t> с </a:t>
            </a:r>
            <a:r>
              <a:rPr sz="1100" b="0" i="0" dirty="0" err="1">
                <a:solidFill>
                  <a:srgbClr val="333355"/>
                </a:solidFill>
                <a:latin typeface="Times New Roman"/>
              </a:rPr>
              <a:t>оценками</a:t>
            </a:r>
            <a:r>
              <a:rPr sz="1100" b="0" i="0" dirty="0">
                <a:solidFill>
                  <a:srgbClr val="333355"/>
                </a:solidFill>
                <a:latin typeface="Times New Roman"/>
              </a:rPr>
              <a:t> </a:t>
            </a:r>
            <a:r>
              <a:rPr sz="1100" b="0" i="0" dirty="0" err="1">
                <a:solidFill>
                  <a:srgbClr val="333355"/>
                </a:solidFill>
                <a:latin typeface="Times New Roman"/>
              </a:rPr>
              <a:t>людей</a:t>
            </a:r>
            <a:r>
              <a:rPr sz="1100" b="0" i="0" dirty="0">
                <a:solidFill>
                  <a:srgbClr val="333355"/>
                </a:solidFill>
                <a:latin typeface="Times New Roman"/>
              </a:rPr>
              <a:t> — </a:t>
            </a:r>
            <a:r>
              <a:rPr sz="1100" b="0" i="0" dirty="0" err="1">
                <a:solidFill>
                  <a:srgbClr val="333355"/>
                </a:solidFill>
                <a:latin typeface="Times New Roman"/>
              </a:rPr>
              <a:t>обосновывает</a:t>
            </a:r>
            <a:r>
              <a:rPr sz="1100" b="0" i="0" dirty="0">
                <a:solidFill>
                  <a:srgbClr val="333355"/>
                </a:solidFill>
                <a:latin typeface="Times New Roman"/>
              </a:rPr>
              <a:t> </a:t>
            </a:r>
            <a:r>
              <a:rPr sz="1100" b="0" i="0" dirty="0" err="1">
                <a:solidFill>
                  <a:srgbClr val="333355"/>
                </a:solidFill>
                <a:latin typeface="Times New Roman"/>
              </a:rPr>
              <a:t>подход</a:t>
            </a:r>
            <a:r>
              <a:rPr sz="1100" b="0" i="0" dirty="0">
                <a:solidFill>
                  <a:srgbClr val="333355"/>
                </a:solidFill>
                <a:latin typeface="Times New Roman"/>
              </a:rPr>
              <a:t> «</a:t>
            </a:r>
            <a:r>
              <a:rPr sz="1100" b="0" i="0" dirty="0" err="1">
                <a:solidFill>
                  <a:srgbClr val="333355"/>
                </a:solidFill>
                <a:latin typeface="Times New Roman"/>
              </a:rPr>
              <a:t>одно</a:t>
            </a:r>
            <a:r>
              <a:rPr sz="1100" b="0" i="0" dirty="0">
                <a:solidFill>
                  <a:srgbClr val="333355"/>
                </a:solidFill>
                <a:latin typeface="Times New Roman"/>
              </a:rPr>
              <a:t> </a:t>
            </a:r>
            <a:r>
              <a:rPr sz="1100" b="0" i="0" dirty="0" err="1">
                <a:solidFill>
                  <a:srgbClr val="333355"/>
                </a:solidFill>
                <a:latin typeface="Times New Roman"/>
              </a:rPr>
              <a:t>ограничение</a:t>
            </a:r>
            <a:r>
              <a:rPr sz="1100" b="0" i="0" dirty="0">
                <a:solidFill>
                  <a:srgbClr val="333355"/>
                </a:solidFill>
                <a:latin typeface="Times New Roman"/>
              </a:rPr>
              <a:t> = </a:t>
            </a:r>
            <a:r>
              <a:rPr sz="1100" b="0" i="0" dirty="0" err="1">
                <a:solidFill>
                  <a:srgbClr val="333355"/>
                </a:solidFill>
                <a:latin typeface="Times New Roman"/>
              </a:rPr>
              <a:t>один</a:t>
            </a:r>
            <a:r>
              <a:rPr sz="1100" b="0" i="0" dirty="0">
                <a:solidFill>
                  <a:srgbClr val="333355"/>
                </a:solidFill>
                <a:latin typeface="Times New Roman"/>
              </a:rPr>
              <a:t> </a:t>
            </a:r>
            <a:r>
              <a:rPr sz="1100" b="0" i="0" dirty="0" err="1">
                <a:solidFill>
                  <a:srgbClr val="333355"/>
                </a:solidFill>
                <a:latin typeface="Times New Roman"/>
              </a:rPr>
              <a:t>вопрос</a:t>
            </a:r>
            <a:r>
              <a:rPr sz="1100" b="0" i="0" dirty="0">
                <a:solidFill>
                  <a:srgbClr val="333355"/>
                </a:solidFill>
                <a:latin typeface="Times New Roman"/>
              </a:rPr>
              <a:t> </a:t>
            </a:r>
            <a:r>
              <a:rPr sz="1100" b="0" i="0" dirty="0" err="1">
                <a:solidFill>
                  <a:srgbClr val="333355"/>
                </a:solidFill>
                <a:latin typeface="Times New Roman"/>
              </a:rPr>
              <a:t>судье</a:t>
            </a:r>
            <a:r>
              <a:rPr sz="1100" b="0" i="0" dirty="0">
                <a:solidFill>
                  <a:srgbClr val="333355"/>
                </a:solidFill>
                <a:latin typeface="Times New Roman"/>
              </a:rPr>
              <a:t>»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4203720"/>
            <a:ext cx="8321040" cy="18000"/>
          </a:xfrm>
          <a:prstGeom prst="rect">
            <a:avLst/>
          </a:prstGeom>
          <a:solidFill>
            <a:srgbClr val="CCC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11480" y="4228720"/>
            <a:ext cx="60000" cy="730000"/>
          </a:xfrm>
          <a:prstGeom prst="rect">
            <a:avLst/>
          </a:prstGeom>
          <a:solidFill>
            <a:srgbClr val="276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48640" y="4378720"/>
            <a:ext cx="420000" cy="350000"/>
          </a:xfrm>
          <a:prstGeom prst="rect">
            <a:avLst/>
          </a:prstGeom>
          <a:solidFill>
            <a:srgbClr val="276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8182E"/>
                </a:solidFill>
                <a:latin typeface="Times New Roman"/>
              </a:rPr>
              <a:t>L3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" y="4268720"/>
            <a:ext cx="201168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8182E"/>
                </a:solidFill>
                <a:latin typeface="Times New Roman"/>
              </a:rPr>
              <a:t>Sub-Q Consistency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" y="4658720"/>
            <a:ext cx="201168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76E2E"/>
                </a:solidFill>
                <a:latin typeface="Times New Roman"/>
              </a:rPr>
              <a:t>Uncertainty VLMs · POPE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91840" y="4268720"/>
            <a:ext cx="32004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A020"/>
                </a:solidFill>
                <a:latin typeface="Times New Roman"/>
              </a:rPr>
              <a:t>[Kostumov et al., arXiv 2024]  [Li et al., EMNLP 2023]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91840" y="4658720"/>
            <a:ext cx="54864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55"/>
                </a:solidFill>
                <a:latin typeface="Times New Roman"/>
              </a:rPr>
              <a:t>Точность VLM не согласована с неопределённостью; POPE: VLM склонны отвечать «Yes» — majority vote по перефразировкам выявляет нестабильные ответы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8182E"/>
                </a:solidFill>
                <a:latin typeface="Times New Roman"/>
              </a:rPr>
              <a:t>Улучшение G: inline Chain-of-Thought (RC4-A)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77240"/>
            <a:ext cx="8321040" cy="40000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6012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  <a:latin typeface="Times New Roman"/>
              </a:rPr>
              <a:t>Без CoT (r23):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325880"/>
            <a:ext cx="384048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/>
              </a:rPr>
              <a:t>Is there exactly 2 tangerines?
Answer: Yes / 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0574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 dirty="0">
                <a:solidFill>
                  <a:srgbClr val="C0392B"/>
                </a:solidFill>
                <a:latin typeface="Times New Roman"/>
              </a:rPr>
              <a:t>→ </a:t>
            </a:r>
            <a:r>
              <a:rPr sz="1300" b="0" i="1" dirty="0" err="1">
                <a:solidFill>
                  <a:srgbClr val="C0392B"/>
                </a:solidFill>
                <a:latin typeface="Times New Roman"/>
              </a:rPr>
              <a:t>модель</a:t>
            </a:r>
            <a:r>
              <a:rPr sz="1300" b="0" i="1" dirty="0">
                <a:solidFill>
                  <a:srgbClr val="C0392B"/>
                </a:solidFill>
                <a:latin typeface="Times New Roman"/>
              </a:rPr>
              <a:t> </a:t>
            </a:r>
            <a:r>
              <a:rPr sz="1300" b="0" i="1" dirty="0" err="1">
                <a:solidFill>
                  <a:srgbClr val="C0392B"/>
                </a:solidFill>
                <a:latin typeface="Times New Roman"/>
              </a:rPr>
              <a:t>угадывает</a:t>
            </a:r>
            <a:r>
              <a:rPr sz="1300" b="0" i="1" dirty="0">
                <a:solidFill>
                  <a:srgbClr val="C0392B"/>
                </a:solidFill>
                <a:latin typeface="Times New Roman"/>
              </a:rPr>
              <a:t> </a:t>
            </a:r>
            <a:r>
              <a:rPr sz="1300" b="0" i="1" dirty="0" err="1">
                <a:solidFill>
                  <a:srgbClr val="C0392B"/>
                </a:solidFill>
                <a:latin typeface="Times New Roman"/>
              </a:rPr>
              <a:t>на</a:t>
            </a:r>
            <a:r>
              <a:rPr sz="1300" b="0" i="1" dirty="0">
                <a:solidFill>
                  <a:srgbClr val="C0392B"/>
                </a:solidFill>
                <a:latin typeface="Times New Roman"/>
              </a:rPr>
              <a:t> </a:t>
            </a:r>
            <a:r>
              <a:rPr sz="1300" b="0" i="1" dirty="0" err="1">
                <a:solidFill>
                  <a:srgbClr val="C0392B"/>
                </a:solidFill>
                <a:latin typeface="Times New Roman"/>
              </a:rPr>
              <a:t>основе</a:t>
            </a:r>
            <a:r>
              <a:rPr sz="1300" b="0" i="1" dirty="0">
                <a:solidFill>
                  <a:srgbClr val="C0392B"/>
                </a:solidFill>
                <a:latin typeface="Times New Roman"/>
              </a:rPr>
              <a:t> </a:t>
            </a:r>
            <a:r>
              <a:rPr sz="1300" b="0" i="1" dirty="0" err="1">
                <a:solidFill>
                  <a:srgbClr val="C0392B"/>
                </a:solidFill>
                <a:latin typeface="Times New Roman"/>
              </a:rPr>
              <a:t>статистических</a:t>
            </a:r>
            <a:r>
              <a:rPr sz="1300" b="0" i="1" dirty="0">
                <a:solidFill>
                  <a:srgbClr val="C0392B"/>
                </a:solidFill>
                <a:latin typeface="Times New Roman"/>
              </a:rPr>
              <a:t> </a:t>
            </a:r>
            <a:r>
              <a:rPr sz="1300" b="0" i="1" dirty="0" err="1">
                <a:solidFill>
                  <a:srgbClr val="C0392B"/>
                </a:solidFill>
                <a:latin typeface="Times New Roman"/>
              </a:rPr>
              <a:t>ожиданий</a:t>
            </a:r>
            <a:endParaRPr sz="1300" b="0" i="1" dirty="0">
              <a:solidFill>
                <a:srgbClr val="C0392B"/>
              </a:solidFill>
              <a:latin typeface="Times New Roman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160520" y="15544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A020"/>
                </a:solidFill>
                <a:latin typeface="Times New Roman"/>
              </a:rPr>
              <a:t>RC4-A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182880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 dirty="0">
                <a:solidFill>
                  <a:srgbClr val="4A86C8"/>
                </a:solidFill>
                <a:latin typeface="Times New Roman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96012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7AE60"/>
                </a:solidFill>
                <a:latin typeface="Times New Roman"/>
              </a:rPr>
              <a:t>С CoT (r25):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1325880"/>
            <a:ext cx="384048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/>
              </a:rPr>
              <a:t>Step 1 - Observe:
  Describe what you see about tangerines.
Step 2 - Conclude:
  Is there exactly 2? Result: Yes / 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244777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 dirty="0">
                <a:solidFill>
                  <a:srgbClr val="4A5A6A"/>
                </a:solidFill>
                <a:latin typeface="Times New Roman"/>
              </a:rPr>
              <a:t>+ majority vote </a:t>
            </a:r>
            <a:r>
              <a:rPr sz="1300" b="0" i="1" dirty="0" err="1">
                <a:solidFill>
                  <a:srgbClr val="4A5A6A"/>
                </a:solidFill>
                <a:latin typeface="Times New Roman"/>
              </a:rPr>
              <a:t>по</a:t>
            </a:r>
            <a:r>
              <a:rPr sz="1300" b="0" i="1" dirty="0">
                <a:solidFill>
                  <a:srgbClr val="4A5A6A"/>
                </a:solidFill>
                <a:latin typeface="Times New Roman"/>
              </a:rPr>
              <a:t> 4 </a:t>
            </a:r>
            <a:r>
              <a:rPr sz="1300" b="0" i="1" dirty="0" err="1">
                <a:solidFill>
                  <a:srgbClr val="4A5A6A"/>
                </a:solidFill>
                <a:latin typeface="Times New Roman"/>
              </a:rPr>
              <a:t>перефразировкам</a:t>
            </a:r>
            <a:r>
              <a:rPr sz="1300" b="0" i="1" dirty="0">
                <a:solidFill>
                  <a:srgbClr val="4A5A6A"/>
                </a:solidFill>
                <a:latin typeface="Times New Roman"/>
              </a:rPr>
              <a:t> </a:t>
            </a:r>
            <a:r>
              <a:rPr sz="1300" b="0" i="1" dirty="0" err="1">
                <a:solidFill>
                  <a:srgbClr val="4A5A6A"/>
                </a:solidFill>
                <a:latin typeface="Times New Roman"/>
              </a:rPr>
              <a:t>вопроса</a:t>
            </a:r>
            <a:endParaRPr sz="1300" b="0" i="1" dirty="0">
              <a:solidFill>
                <a:srgbClr val="4A5A6A"/>
              </a:solidFill>
              <a:latin typeface="Times New Roman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11480" y="2788920"/>
            <a:ext cx="2560320" cy="5943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/>
              </a:rPr>
              <a:t>FP: 12 → 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54680" y="2788920"/>
            <a:ext cx="2834640" cy="594360"/>
          </a:xfrm>
          <a:prstGeom prst="rect">
            <a:avLst/>
          </a:prstGeom>
          <a:solidFill>
            <a:srgbClr val="1A6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/>
              </a:rPr>
              <a:t>AUROC: 0.782 → 0.852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2788920"/>
            <a:ext cx="2743200" cy="594360"/>
          </a:xfrm>
          <a:prstGeom prst="rect">
            <a:avLst/>
          </a:prstGeom>
          <a:solidFill>
            <a:srgbClr val="1A6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/>
              </a:rPr>
              <a:t>F1-max: 0.746 → 0.818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566160"/>
            <a:ext cx="8321040" cy="1371600"/>
          </a:xfrm>
          <a:prstGeom prst="rect">
            <a:avLst/>
          </a:prstGeom>
          <a:solidFill>
            <a:srgbClr val="E0ECF8"/>
          </a:solidFill>
          <a:ln w="20000">
            <a:solidFill>
              <a:srgbClr val="4A8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E8A020"/>
                </a:solidFill>
                <a:latin typeface="Times New Roman"/>
              </a:rPr>
              <a:t>Механизм: </a:t>
            </a:r>
            <a:r>
              <a:rPr sz="1500">
                <a:solidFill>
                  <a:srgbClr val="18182E"/>
                </a:solidFill>
                <a:latin typeface="Times New Roman"/>
              </a:rPr>
              <a:t>ложноположительный ответ потребовал бы сформулировать несуществующее нарушение. Step 1 Observe создаёт верифицируемую посылку — модель не может соврать, не описав реального нарушения. Yes-bias (POPE, 2023) полностью устранён.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8182E"/>
                </a:solidFill>
                <a:latin typeface="Times New Roman"/>
              </a:rPr>
              <a:t>Прогрессия результатов: baseline → r25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77240"/>
            <a:ext cx="8321040" cy="40000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914400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A5A6A"/>
                </a:solidFill>
                <a:latin typeface="Times New Roman"/>
              </a:rPr>
              <a:t>breakfast_box · 50 тестовых изображений (25 good + 25 anomaly)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4124116"/>
              </p:ext>
            </p:extLst>
          </p:nvPr>
        </p:nvGraphicFramePr>
        <p:xfrm>
          <a:off x="411480" y="1234440"/>
          <a:ext cx="8171242" cy="2659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90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490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8182E"/>
                          </a:solidFill>
                          <a:latin typeface="Times New Roman"/>
                        </a:rPr>
                        <a:t>Запуск</a:t>
                      </a:r>
                    </a:p>
                  </a:txBody>
                  <a:tcPr>
                    <a:solidFill>
                      <a:srgbClr val="4A86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8182E"/>
                          </a:solidFill>
                          <a:latin typeface="Times New Roman"/>
                        </a:rPr>
                        <a:t>AUROC</a:t>
                      </a:r>
                    </a:p>
                  </a:txBody>
                  <a:tcPr>
                    <a:solidFill>
                      <a:srgbClr val="4A86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8182E"/>
                          </a:solidFill>
                          <a:latin typeface="Times New Roman"/>
                        </a:rPr>
                        <a:t>F1-max</a:t>
                      </a:r>
                    </a:p>
                  </a:txBody>
                  <a:tcPr>
                    <a:solidFill>
                      <a:srgbClr val="4A86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8182E"/>
                          </a:solidFill>
                          <a:latin typeface="Times New Roman"/>
                        </a:rPr>
                        <a:t>FP</a:t>
                      </a:r>
                    </a:p>
                  </a:txBody>
                  <a:tcPr>
                    <a:solidFill>
                      <a:srgbClr val="4A86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8182E"/>
                          </a:solidFill>
                          <a:latin typeface="Times New Roman"/>
                        </a:rPr>
                        <a:t>FN</a:t>
                      </a:r>
                    </a:p>
                  </a:txBody>
                  <a:tcPr>
                    <a:solidFill>
                      <a:srgbClr val="4A86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8182E"/>
                          </a:solidFill>
                          <a:latin typeface="Times New Roman"/>
                        </a:rPr>
                        <a:t>Ключевое</a:t>
                      </a:r>
                    </a:p>
                  </a:txBody>
                  <a:tcPr>
                    <a:solidFill>
                      <a:srgbClr val="4A86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182E"/>
                          </a:solidFill>
                          <a:latin typeface="Times New Roman"/>
                        </a:rPr>
                        <a:t>Baseline (avg 5 cls)</a:t>
                      </a:r>
                    </a:p>
                  </a:txBody>
                  <a:tcPr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182E"/>
                          </a:solidFill>
                          <a:latin typeface="Times New Roman"/>
                        </a:rPr>
                        <a:t>0.527</a:t>
                      </a:r>
                    </a:p>
                  </a:txBody>
                  <a:tcPr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182E"/>
                          </a:solidFill>
                          <a:latin typeface="Times New Roman"/>
                        </a:rPr>
                        <a:t>0.655</a:t>
                      </a:r>
                    </a:p>
                  </a:txBody>
                  <a:tcPr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182E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182E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8182E"/>
                          </a:solidFill>
                          <a:latin typeface="Times New Roman"/>
                        </a:rPr>
                        <a:t>Монолитный, без CoT</a:t>
                      </a:r>
                    </a:p>
                  </a:txBody>
                  <a:tcPr>
                    <a:solidFill>
                      <a:srgbClr val="F5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182E"/>
                          </a:solidFill>
                          <a:latin typeface="Times New Roman"/>
                        </a:rPr>
                        <a:t>r18 (decomposed start)</a:t>
                      </a:r>
                    </a:p>
                  </a:txBody>
                  <a:tcPr>
                    <a:solidFill>
                      <a:srgbClr val="EBEB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182E"/>
                          </a:solidFill>
                          <a:latin typeface="Times New Roman"/>
                        </a:rPr>
                        <a:t>0.521</a:t>
                      </a:r>
                    </a:p>
                  </a:txBody>
                  <a:tcPr>
                    <a:solidFill>
                      <a:srgbClr val="EBEB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182E"/>
                          </a:solidFill>
                          <a:latin typeface="Times New Roman"/>
                        </a:rPr>
                        <a:t>0.667</a:t>
                      </a:r>
                    </a:p>
                  </a:txBody>
                  <a:tcPr>
                    <a:solidFill>
                      <a:srgbClr val="EBEB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182E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>
                    <a:solidFill>
                      <a:srgbClr val="EBEB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182E"/>
                          </a:solidFill>
                          <a:latin typeface="Times New Roman"/>
                        </a:rPr>
                        <a:t>23</a:t>
                      </a:r>
                    </a:p>
                  </a:txBody>
                  <a:tcPr>
                    <a:solidFill>
                      <a:srgbClr val="EBEB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8182E"/>
                          </a:solidFill>
                          <a:latin typeface="Times New Roman"/>
                        </a:rPr>
                        <a:t>Декомпозиция (нестабильна)</a:t>
                      </a:r>
                    </a:p>
                  </a:txBody>
                  <a:tcPr>
                    <a:solidFill>
                      <a:srgbClr val="EBEB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182E"/>
                          </a:solidFill>
                          <a:latin typeface="Times New Roman"/>
                        </a:rPr>
                        <a:t>r21 (NORMALITY fix)</a:t>
                      </a:r>
                    </a:p>
                  </a:txBody>
                  <a:tcPr>
                    <a:solidFill>
                      <a:srgbClr val="EBEB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182E"/>
                          </a:solidFill>
                          <a:latin typeface="Times New Roman"/>
                        </a:rPr>
                        <a:t>0.500</a:t>
                      </a:r>
                    </a:p>
                  </a:txBody>
                  <a:tcPr>
                    <a:solidFill>
                      <a:srgbClr val="EBEB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182E"/>
                          </a:solidFill>
                          <a:latin typeface="Times New Roman"/>
                        </a:rPr>
                        <a:t>0.667</a:t>
                      </a:r>
                    </a:p>
                  </a:txBody>
                  <a:tcPr>
                    <a:solidFill>
                      <a:srgbClr val="EBEB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182E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>
                    <a:solidFill>
                      <a:srgbClr val="EBEB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8182E"/>
                          </a:solidFill>
                          <a:latin typeface="Times New Roman"/>
                        </a:rPr>
                        <a:t>25</a:t>
                      </a:r>
                    </a:p>
                  </a:txBody>
                  <a:tcPr>
                    <a:solidFill>
                      <a:srgbClr val="EBEB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 err="1">
                          <a:solidFill>
                            <a:srgbClr val="18182E"/>
                          </a:solidFill>
                          <a:latin typeface="Times New Roman"/>
                        </a:rPr>
                        <a:t>Регрессия</a:t>
                      </a:r>
                      <a:r>
                        <a:rPr sz="1200" b="0" dirty="0">
                          <a:solidFill>
                            <a:srgbClr val="18182E"/>
                          </a:solidFill>
                          <a:latin typeface="Times New Roman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8182E"/>
                          </a:solidFill>
                          <a:latin typeface="Times New Roman"/>
                        </a:rPr>
                        <a:t>промптов</a:t>
                      </a:r>
                      <a:endParaRPr sz="1200" b="0" dirty="0">
                        <a:solidFill>
                          <a:srgbClr val="18182E"/>
                        </a:solidFill>
                        <a:latin typeface="Times New Roman"/>
                      </a:endParaRPr>
                    </a:p>
                  </a:txBody>
                  <a:tcPr>
                    <a:solidFill>
                      <a:srgbClr val="EBEB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chemeClr val="accent1">
                              <a:lumMod val="20000"/>
                              <a:lumOff val="80000"/>
                            </a:schemeClr>
                          </a:solidFill>
                          <a:latin typeface="Times New Roman"/>
                        </a:rPr>
                        <a:t>r23 (fixes 3b/3c/4)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chemeClr val="accent1">
                              <a:lumMod val="20000"/>
                              <a:lumOff val="80000"/>
                            </a:schemeClr>
                          </a:solidFill>
                          <a:latin typeface="Times New Roman"/>
                        </a:rPr>
                        <a:t>0.782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chemeClr val="accent1">
                              <a:lumMod val="20000"/>
                              <a:lumOff val="80000"/>
                            </a:schemeClr>
                          </a:solidFill>
                          <a:latin typeface="Times New Roman"/>
                        </a:rPr>
                        <a:t>0.746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chemeClr val="accent1">
                              <a:lumMod val="20000"/>
                              <a:lumOff val="80000"/>
                            </a:schemeClr>
                          </a:solidFill>
                          <a:latin typeface="Times New Roman"/>
                        </a:rPr>
                        <a:t>12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chemeClr val="accent1">
                              <a:lumMod val="20000"/>
                              <a:lumOff val="80000"/>
                            </a:schemeClr>
                          </a:solidFill>
                          <a:latin typeface="Times New Roman"/>
                        </a:rPr>
                        <a:t>3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 err="1">
                          <a:solidFill>
                            <a:schemeClr val="accent1">
                              <a:lumMod val="20000"/>
                              <a:lumOff val="80000"/>
                            </a:schemeClr>
                          </a:solidFill>
                          <a:latin typeface="Times New Roman"/>
                        </a:rPr>
                        <a:t>Исправление</a:t>
                      </a:r>
                      <a:r>
                        <a:rPr sz="1200" b="0" dirty="0">
                          <a:solidFill>
                            <a:schemeClr val="accent1">
                              <a:lumMod val="20000"/>
                              <a:lumOff val="80000"/>
                            </a:schemeClr>
                          </a:solidFill>
                          <a:latin typeface="Times New Roman"/>
                        </a:rPr>
                        <a:t> Stage 3b/4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18182E"/>
                          </a:solidFill>
                          <a:latin typeface="Times New Roman"/>
                        </a:rPr>
                        <a:t>r25 ★</a:t>
                      </a:r>
                      <a:r>
                        <a:rPr lang="es-ES" sz="1200" b="1" dirty="0">
                          <a:solidFill>
                            <a:srgbClr val="18182E"/>
                          </a:solidFill>
                          <a:latin typeface="Times New Roman"/>
                        </a:rPr>
                        <a:t> </a:t>
                      </a:r>
                      <a:r>
                        <a:rPr sz="1200" b="1" dirty="0" err="1">
                          <a:solidFill>
                            <a:srgbClr val="18182E"/>
                          </a:solidFill>
                          <a:latin typeface="Times New Roman"/>
                        </a:rPr>
                        <a:t>CoT</a:t>
                      </a:r>
                      <a:endParaRPr sz="1200" b="1" dirty="0">
                        <a:solidFill>
                          <a:srgbClr val="18182E"/>
                        </a:solidFill>
                        <a:latin typeface="Times New Roman"/>
                      </a:endParaRPr>
                    </a:p>
                  </a:txBody>
                  <a:tcPr>
                    <a:solidFill>
                      <a:srgbClr val="C8EE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8182E"/>
                          </a:solidFill>
                          <a:latin typeface="Times New Roman"/>
                        </a:rPr>
                        <a:t>0.852</a:t>
                      </a:r>
                    </a:p>
                  </a:txBody>
                  <a:tcPr>
                    <a:solidFill>
                      <a:srgbClr val="C8EE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8182E"/>
                          </a:solidFill>
                          <a:latin typeface="Times New Roman"/>
                        </a:rPr>
                        <a:t>0.818</a:t>
                      </a:r>
                    </a:p>
                  </a:txBody>
                  <a:tcPr>
                    <a:solidFill>
                      <a:srgbClr val="C8EE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8182E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>
                    <a:solidFill>
                      <a:srgbClr val="C8EED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8182E"/>
                          </a:solidFill>
                          <a:latin typeface="Times New Roman"/>
                        </a:rPr>
                        <a:t>10</a:t>
                      </a:r>
                    </a:p>
                  </a:txBody>
                  <a:tcPr>
                    <a:solidFill>
                      <a:srgbClr val="C8EED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dirty="0">
                          <a:solidFill>
                            <a:srgbClr val="18182E"/>
                          </a:solidFill>
                          <a:latin typeface="Times New Roman"/>
                        </a:rPr>
                        <a:t>inline </a:t>
                      </a:r>
                      <a:r>
                        <a:rPr sz="1200" b="1" dirty="0" err="1">
                          <a:solidFill>
                            <a:srgbClr val="18182E"/>
                          </a:solidFill>
                          <a:latin typeface="Times New Roman"/>
                        </a:rPr>
                        <a:t>CoT</a:t>
                      </a:r>
                      <a:r>
                        <a:rPr sz="1200" b="1" dirty="0">
                          <a:solidFill>
                            <a:srgbClr val="18182E"/>
                          </a:solidFill>
                          <a:latin typeface="Times New Roman"/>
                        </a:rPr>
                        <a:t> · FP=0</a:t>
                      </a:r>
                    </a:p>
                  </a:txBody>
                  <a:tcPr>
                    <a:solidFill>
                      <a:srgbClr val="C8EE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11480" y="3977639"/>
            <a:ext cx="2286000" cy="6400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AUROC = 0.852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0360" y="3977639"/>
            <a:ext cx="1371600" cy="6400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FP = 0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3977639"/>
            <a:ext cx="1828800" cy="6400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CCR = 100%</a:t>
            </a:r>
          </a:p>
        </p:txBody>
      </p:sp>
      <p:sp>
        <p:nvSpPr>
          <p:cNvPr id="9" name="Rectangle 8"/>
          <p:cNvSpPr/>
          <p:nvPr/>
        </p:nvSpPr>
        <p:spPr>
          <a:xfrm>
            <a:off x="6446520" y="3977639"/>
            <a:ext cx="2363372" cy="640080"/>
          </a:xfrm>
          <a:prstGeom prst="rect">
            <a:avLst/>
          </a:prstGeom>
          <a:solidFill>
            <a:srgbClr val="1A6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ru-RU" sz="1400" b="1" dirty="0">
                <a:solidFill>
                  <a:srgbClr val="FFFFFF"/>
                </a:solidFill>
                <a:latin typeface="Times New Roman"/>
              </a:rPr>
              <a:t>Теперь </a:t>
            </a:r>
            <a:r>
              <a:rPr lang="es-ES" sz="1400" b="1" dirty="0">
                <a:solidFill>
                  <a:srgbClr val="FFFFFF"/>
                </a:solidFill>
                <a:latin typeface="Times New Roman"/>
              </a:rPr>
              <a:t>8B</a:t>
            </a:r>
            <a:r>
              <a:rPr lang="en-US" sz="1400" b="1" dirty="0">
                <a:solidFill>
                  <a:srgbClr val="FFFFFF"/>
                </a:solidFill>
                <a:latin typeface="Times New Roman"/>
              </a:rPr>
              <a:t> </a:t>
            </a:r>
            <a:r>
              <a:rPr lang="ru-RU" sz="1400" b="1" dirty="0">
                <a:solidFill>
                  <a:srgbClr val="FFFFFF"/>
                </a:solidFill>
                <a:latin typeface="Times New Roman"/>
              </a:rPr>
              <a:t>сравнима с </a:t>
            </a:r>
            <a:r>
              <a:rPr lang="es-ES" sz="1400" b="1" dirty="0">
                <a:solidFill>
                  <a:srgbClr val="FFFFFF"/>
                </a:solidFill>
                <a:latin typeface="Times New Roman"/>
              </a:rPr>
              <a:t>gpt4o</a:t>
            </a:r>
            <a:endParaRPr sz="1400" b="1" dirty="0">
              <a:solidFill>
                <a:srgbClr val="FFFFFF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8182E"/>
                </a:solidFill>
                <a:latin typeface="Times New Roman"/>
              </a:rPr>
              <a:t>Иерархическая система оценки L1–L4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777240"/>
            <a:ext cx="8321040" cy="40000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868680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A5A6A"/>
                </a:solidFill>
                <a:latin typeface="Times New Roman"/>
              </a:rPr>
              <a:t>Зачем: AUROC не показывает, на каком этапе пайплайна возникает ошибка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34440"/>
            <a:ext cx="109728" cy="594360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234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86C8"/>
                </a:solidFill>
                <a:latin typeface="Times New Roman"/>
              </a:rPr>
              <a:t>L1  Восприятие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1234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8182E"/>
                </a:solidFill>
                <a:latin typeface="Times New Roman"/>
              </a:rPr>
              <a:t>CLIPScore = 69.7%   ·   CCR = 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12344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A5A6A"/>
                </a:solidFill>
                <a:latin typeface="Times New Roman"/>
              </a:rPr>
              <a:t>Описание семантически верное и полное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892808"/>
            <a:ext cx="8321040" cy="15000"/>
          </a:xfrm>
          <a:prstGeom prst="rect">
            <a:avLst/>
          </a:prstGeom>
          <a:solidFill>
            <a:srgbClr val="CCC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11480" y="1984248"/>
            <a:ext cx="109728" cy="59436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9842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E44AD"/>
                </a:solidFill>
                <a:latin typeface="Times New Roman"/>
              </a:rPr>
              <a:t>L2  Атрибуты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19842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8182E"/>
                </a:solidFill>
                <a:latin typeface="Times New Roman"/>
              </a:rPr>
              <a:t>MACE = 0.24   ·   SRA = 64.3%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1984248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A5A6A"/>
                </a:solidFill>
                <a:latin typeface="Times New Roman"/>
              </a:rPr>
              <a:t>Счёт точен · пространственные отношения — системная слабость 8B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642616"/>
            <a:ext cx="8321040" cy="15000"/>
          </a:xfrm>
          <a:prstGeom prst="rect">
            <a:avLst/>
          </a:prstGeom>
          <a:solidFill>
            <a:srgbClr val="CCC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11480" y="2734056"/>
            <a:ext cx="109728" cy="594360"/>
          </a:xfrm>
          <a:prstGeom prst="rect">
            <a:avLst/>
          </a:prstGeom>
          <a:solidFill>
            <a:srgbClr val="16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273405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7A8A"/>
                </a:solidFill>
                <a:latin typeface="Times New Roman"/>
              </a:rPr>
              <a:t>L2.5  Фильтрация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273405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8182E"/>
                </a:solidFill>
                <a:latin typeface="Times New Roman"/>
              </a:rPr>
              <a:t>Precision = 21%   ·   Recall = 63%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2734056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A5A6A"/>
                </a:solidFill>
                <a:latin typeface="Times New Roman"/>
              </a:rPr>
              <a:t>Ограничение Qwen2.5-3B-судьи: не различает перефразировки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392424"/>
            <a:ext cx="8321040" cy="15000"/>
          </a:xfrm>
          <a:prstGeom prst="rect">
            <a:avLst/>
          </a:prstGeom>
          <a:solidFill>
            <a:srgbClr val="CCC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11480" y="3483864"/>
            <a:ext cx="109728" cy="594360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348386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35400"/>
                </a:solidFill>
                <a:latin typeface="Times New Roman"/>
              </a:rPr>
              <a:t>L3  Рассуждение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4600" y="348386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8182E"/>
                </a:solidFill>
                <a:latin typeface="Times New Roman"/>
              </a:rPr>
              <a:t>Sub-Q Consistency = 70.5%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06440" y="3483864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A5A6A"/>
                </a:solidFill>
                <a:latin typeface="Times New Roman"/>
              </a:rPr>
              <a:t>Умеренная стабильность — VLM неуверена (Kostumov et al. 2024)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4142232"/>
            <a:ext cx="8321040" cy="15000"/>
          </a:xfrm>
          <a:prstGeom prst="rect">
            <a:avLst/>
          </a:prstGeom>
          <a:solidFill>
            <a:srgbClr val="CCC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11480" y="4233672"/>
            <a:ext cx="109728" cy="5943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4360" y="42336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7AE60"/>
                </a:solidFill>
                <a:latin typeface="Times New Roman"/>
              </a:rPr>
              <a:t>L4  Задача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14600" y="42336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8182E"/>
                </a:solidFill>
                <a:latin typeface="Times New Roman"/>
              </a:rPr>
              <a:t>AUROC = 0.852   ·   F1-max = 0.818   ·   FP = 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06440" y="4233672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A5A6A"/>
                </a:solidFill>
                <a:latin typeface="Times New Roman"/>
              </a:rPr>
              <a:t>Лучший результат достигнут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80000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321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8182E"/>
                </a:solidFill>
                <a:latin typeface="Times New Roman"/>
              </a:rPr>
              <a:t>Заключение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8321040" cy="40000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1188720"/>
            <a:ext cx="457200" cy="640080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8182E"/>
                </a:solidFill>
                <a:latin typeface="Times New Roman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18872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A020"/>
                </a:solidFill>
                <a:latin typeface="Times New Roman"/>
              </a:rPr>
              <a:t>AUROC 0.527 → 0.852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536192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5A6A"/>
                </a:solidFill>
                <a:latin typeface="Times New Roman"/>
              </a:rPr>
              <a:t>open-source модель на одном GPU · без API · воспроизводимо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194560"/>
            <a:ext cx="457200" cy="640080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8182E"/>
                </a:solidFill>
                <a:latin typeface="Times New Roman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945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A020"/>
                </a:solidFill>
                <a:latin typeface="Times New Roman"/>
              </a:rPr>
              <a:t>FP = 0  ·  CCR = 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542032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 err="1">
                <a:solidFill>
                  <a:srgbClr val="4A5A6A"/>
                </a:solidFill>
                <a:latin typeface="Times New Roman"/>
              </a:rPr>
              <a:t>CoT</a:t>
            </a:r>
            <a:r>
              <a:rPr sz="1400" b="0" i="0" dirty="0">
                <a:solidFill>
                  <a:srgbClr val="4A5A6A"/>
                </a:solidFill>
                <a:latin typeface="Times New Roman"/>
              </a:rPr>
              <a:t> + per-component Stage 1 </a:t>
            </a:r>
            <a:r>
              <a:rPr sz="1400" b="0" i="0" dirty="0" err="1">
                <a:solidFill>
                  <a:srgbClr val="4A5A6A"/>
                </a:solidFill>
                <a:latin typeface="Times New Roman"/>
              </a:rPr>
              <a:t>решают</a:t>
            </a:r>
            <a:r>
              <a:rPr sz="1400" b="0" i="0" dirty="0">
                <a:solidFill>
                  <a:srgbClr val="4A5A6A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4A5A6A"/>
                </a:solidFill>
                <a:latin typeface="Times New Roman"/>
              </a:rPr>
              <a:t>разные</a:t>
            </a:r>
            <a:r>
              <a:rPr sz="1400" b="0" i="0" dirty="0">
                <a:solidFill>
                  <a:srgbClr val="4A5A6A"/>
                </a:solidFill>
                <a:latin typeface="Times New Roman"/>
              </a:rPr>
              <a:t> </a:t>
            </a:r>
            <a:r>
              <a:rPr sz="1400" b="0" i="0" dirty="0" err="1">
                <a:solidFill>
                  <a:srgbClr val="4A5A6A"/>
                </a:solidFill>
                <a:latin typeface="Times New Roman"/>
              </a:rPr>
              <a:t>проблемы</a:t>
            </a:r>
            <a:endParaRPr sz="1400" b="0" i="0" dirty="0">
              <a:solidFill>
                <a:srgbClr val="4A5A6A"/>
              </a:solidFill>
              <a:latin typeface="Times New Roman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11480" y="3200400"/>
            <a:ext cx="457200" cy="640080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8182E"/>
                </a:solidFill>
                <a:latin typeface="Times New Roman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200400"/>
            <a:ext cx="777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dirty="0">
                <a:solidFill>
                  <a:srgbClr val="E8A020"/>
                </a:solidFill>
                <a:latin typeface="Times New Roman"/>
              </a:rPr>
              <a:t>FN = 10 → </a:t>
            </a:r>
            <a:r>
              <a:rPr lang="ru-RU" b="1" dirty="0">
                <a:solidFill>
                  <a:srgbClr val="E8A020"/>
                </a:solidFill>
                <a:latin typeface="Times New Roman"/>
              </a:rPr>
              <a:t>слабость маленьких моделей</a:t>
            </a:r>
            <a:endParaRPr sz="1800" b="1" i="0" dirty="0">
              <a:solidFill>
                <a:srgbClr val="E8A020"/>
              </a:solidFill>
              <a:latin typeface="Times New Roman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3547872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5A6A"/>
                </a:solidFill>
                <a:latin typeface="Times New Roman"/>
              </a:rPr>
              <a:t>системная слабость VLM-8B (56% vs 99% люди, Kamath 2023)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4114800"/>
            <a:ext cx="8321040" cy="731520"/>
          </a:xfrm>
          <a:prstGeom prst="rect">
            <a:avLst/>
          </a:prstGeom>
          <a:solidFill>
            <a:srgbClr val="E0ECF8"/>
          </a:solidFill>
          <a:ln w="30000">
            <a:solidFill>
              <a:srgbClr val="E8A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E8A020"/>
                </a:solidFill>
                <a:latin typeface="Times New Roman"/>
              </a:rPr>
              <a:t>Следующий шаг: </a:t>
            </a:r>
            <a:r>
              <a:rPr sz="1500">
                <a:solidFill>
                  <a:srgbClr val="18182E"/>
                </a:solidFill>
                <a:latin typeface="Times New Roman"/>
              </a:rPr>
              <a:t>InternVL2.5-38B-AWQ для пространственных аномалий · все 5 классов MVTec LOCO AD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5023500"/>
            <a:ext cx="9144000" cy="120000"/>
          </a:xfrm>
          <a:prstGeom prst="rect">
            <a:avLst/>
          </a:prstGeom>
          <a:solidFill>
            <a:srgbClr val="4A8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7680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4A86C8"/>
                </a:solidFill>
                <a:latin typeface="Calibri"/>
              </a:rPr>
              <a:t>Резервные слайды</a:t>
            </a:r>
          </a:p>
          <a:p>
            <a:r>
              <a:rPr sz="2000">
                <a:solidFill>
                  <a:srgbClr val="4A5A6A"/>
                </a:solidFill>
                <a:latin typeface="Calibri"/>
              </a:rPr>
              <a:t>Ответы на возможные вопросы ГЭК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4A86C8"/>
                </a:solidFill>
                <a:latin typeface="Calibri"/>
              </a:rPr>
              <a:t>Методология и выбор модели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2794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500" b="1">
                <a:solidFill>
                  <a:srgbClr val="1A1A2E"/>
                </a:solidFill>
                <a:latin typeface="Calibri"/>
              </a:rPr>
              <a:t>В: Почему training-free, без дообучения на аномалиях?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4A5A6A"/>
                </a:solidFill>
                <a:latin typeface="Calibri"/>
              </a:rPr>
              <a:t>О: В реальном контроле качества размеченных аномалий нет; достаточно few-shot нормальных образцов, а подход переносится на новые классы без переобучения.</a:t>
            </a:r>
          </a:p>
          <a:p>
            <a:pPr>
              <a:spcBef>
                <a:spcPts val="1000"/>
              </a:spcBef>
            </a:pPr>
            <a:r>
              <a:rPr sz="1500" b="1">
                <a:solidFill>
                  <a:srgbClr val="1A1A2E"/>
                </a:solidFill>
                <a:latin typeface="Calibri"/>
              </a:rPr>
              <a:t>В: Почему открытая InternVL2.5-8B, а не GPT-4o?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4A5A6A"/>
                </a:solidFill>
                <a:latin typeface="Calibri"/>
              </a:rPr>
              <a:t>О: Воспроизводимость, нулевая стоимость API и локальный деплой; цель — показать, что улучшения пайплайна компенсируют разрыв с закрытой моделью.</a:t>
            </a:r>
          </a:p>
          <a:p>
            <a:pPr>
              <a:spcBef>
                <a:spcPts val="1000"/>
              </a:spcBef>
            </a:pPr>
            <a:r>
              <a:rPr sz="1500" b="1">
                <a:solidFill>
                  <a:srgbClr val="1A1A2E"/>
                </a:solidFill>
                <a:latin typeface="Calibri"/>
              </a:rPr>
              <a:t>В: Чем логические аномалии сложнее структурных?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4A5A6A"/>
                </a:solidFill>
                <a:latin typeface="Calibri"/>
              </a:rPr>
              <a:t>О: Локально каждый пиксель нормален — нарушение видно только на уровне глобального контекста, поэтому embedding- и reconstruction-методы их не обнаруживают.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4A86C8"/>
                </a:solidFill>
                <a:latin typeface="Calibri"/>
              </a:rPr>
              <a:t>Надёжность ответов VLM и порог решения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2794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500" b="1">
                <a:solidFill>
                  <a:srgbClr val="1A1A2E"/>
                </a:solidFill>
                <a:latin typeface="Calibri"/>
              </a:rPr>
              <a:t>В: Как боретесь с «галлюцинациями» модели?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4A5A6A"/>
                </a:solidFill>
                <a:latin typeface="Calibri"/>
              </a:rPr>
              <a:t>О: Бинарный формат вопросов (мотивирован POPE), inline CoT (RC4-A) с обязательным наблюдением перед ответом, фильтр Stage 3b и majority vote по 4 переформулировкам.</a:t>
            </a:r>
          </a:p>
          <a:p>
            <a:pPr>
              <a:spcBef>
                <a:spcPts val="1000"/>
              </a:spcBef>
            </a:pPr>
            <a:r>
              <a:rPr sz="1500" b="1">
                <a:solidFill>
                  <a:srgbClr val="1A1A2E"/>
                </a:solidFill>
                <a:latin typeface="Calibri"/>
              </a:rPr>
              <a:t>В: Что даёт RC4-A и почему FP=0?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4A5A6A"/>
                </a:solidFill>
                <a:latin typeface="Calibri"/>
              </a:rPr>
              <a:t>О: Двухшаговый Observe → Conclude: модель обязана сослаться на наблюдение и не «угадывает» Yes, поэтому ложные срабатывания исчезают (12 → 0).</a:t>
            </a:r>
          </a:p>
          <a:p>
            <a:pPr>
              <a:spcBef>
                <a:spcPts val="1000"/>
              </a:spcBef>
            </a:pPr>
            <a:r>
              <a:rPr sz="1500" b="1">
                <a:solidFill>
                  <a:srgbClr val="1A1A2E"/>
                </a:solidFill>
                <a:latin typeface="Calibri"/>
              </a:rPr>
              <a:t>В: Зачем иерархическая оценка L1–L4, если есть AUROC?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4A5A6A"/>
                </a:solidFill>
                <a:latin typeface="Calibri"/>
              </a:rPr>
              <a:t>О: AUROC оценивает только итог; L1–L4 локализуют, на какой стадии ошибка — восприятие, атрибуты, фильтрация вопросов или рассуждение.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4A86C8"/>
                </a:solidFill>
                <a:latin typeface="Calibri"/>
              </a:rPr>
              <a:t>Результаты, значимость, ограничения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2794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500" b="1">
                <a:solidFill>
                  <a:srgbClr val="1A1A2E"/>
                </a:solidFill>
                <a:latin typeface="Calibri"/>
              </a:rPr>
              <a:t>В: Почему AUROC=0.852 только на breakfast_box?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4A5A6A"/>
                </a:solidFill>
                <a:latin typeface="Calibri"/>
              </a:rPr>
              <a:t>О: Детальная оптимизация шла на одном классе; перенос требует адаптации определений, а счёт мелких деталей и пространственные аномалии — предел модели 8B.</a:t>
            </a:r>
          </a:p>
          <a:p>
            <a:pPr>
              <a:spcBef>
                <a:spcPts val="1000"/>
              </a:spcBef>
            </a:pPr>
            <a:r>
              <a:rPr sz="1500" b="1">
                <a:solidFill>
                  <a:srgbClr val="1A1A2E"/>
                </a:solidFill>
                <a:latin typeface="Calibri"/>
              </a:rPr>
              <a:t>В: Достаточна ли выборка из 50 изображений?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4A5A6A"/>
                </a:solidFill>
                <a:latin typeface="Calibri"/>
              </a:rPr>
              <a:t>О: 50 изображений — для быстрых итераций; baseline и pre-built считались на полном тесте; полный прогон всех классов — направление дальнейшей работы.</a:t>
            </a:r>
          </a:p>
          <a:p>
            <a:pPr>
              <a:spcBef>
                <a:spcPts val="1000"/>
              </a:spcBef>
            </a:pPr>
            <a:r>
              <a:rPr sz="1500" b="1">
                <a:solidFill>
                  <a:srgbClr val="1A1A2E"/>
                </a:solidFill>
                <a:latin typeface="Calibri"/>
              </a:rPr>
              <a:t>В: Основные ограничения работы?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4A5A6A"/>
                </a:solidFill>
                <a:latin typeface="Calibri"/>
              </a:rPr>
              <a:t>О: Пространственные аномалии, счёт на зашумлённом фоне, ограниченность судьи Qwen2.5-3B (Filter Precision 21%), оптимизация преимущественно на одном классе.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4A86C8"/>
                </a:solidFill>
                <a:latin typeface="Calibri"/>
              </a:rPr>
              <a:t>Вклад и практическое применение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2794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500" b="1">
                <a:solidFill>
                  <a:srgbClr val="1A1A2E"/>
                </a:solidFill>
                <a:latin typeface="Calibri"/>
              </a:rPr>
              <a:t>В: Чем вклад отличается от оригинального LogicQA?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4A5A6A"/>
                </a:solidFill>
                <a:latin typeface="Calibri"/>
              </a:rPr>
              <a:t>О: Открытая модель вместо GPT-4o, per-component Stage 1, inline CoT (RC4-A), иерархическая оценка L1–L4, нормативные определения классов и полная воспроизводимость.</a:t>
            </a:r>
          </a:p>
          <a:p>
            <a:pPr>
              <a:spcBef>
                <a:spcPts val="1000"/>
              </a:spcBef>
            </a:pPr>
            <a:r>
              <a:rPr sz="1500" b="1">
                <a:solidFill>
                  <a:srgbClr val="1A1A2E"/>
                </a:solidFill>
                <a:latin typeface="Calibri"/>
              </a:rPr>
              <a:t>В: Где это применимо на практике?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4A5A6A"/>
                </a:solidFill>
                <a:latin typeface="Calibri"/>
              </a:rPr>
              <a:t>О: Промышленный контроль качества без разметки аномалий, на одном GPU, с интерпретируемыми текстовыми объяснениями каждого решения.</a:t>
            </a:r>
          </a:p>
          <a:p>
            <a:pPr>
              <a:spcBef>
                <a:spcPts val="1000"/>
              </a:spcBef>
            </a:pPr>
            <a:r>
              <a:rPr sz="1500" b="1">
                <a:solidFill>
                  <a:srgbClr val="1A1A2E"/>
                </a:solidFill>
                <a:latin typeface="Calibri"/>
              </a:rPr>
              <a:t>В: Что показали новые прогоны на 4 классах?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4A5A6A"/>
                </a:solidFill>
                <a:latin typeface="Calibri"/>
              </a:rPr>
              <a:t>О: Переписанные определения + полный пайплайн дают средний AUROC ≈ 0.59 против 0.51 у baseline; для screw_bag и splicing_connectors — заметный прирост.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4A86C8"/>
                </a:solidFill>
                <a:latin typeface="Calibri"/>
              </a:rPr>
              <a:t>Результаты по всем классам MVTec LOCO AD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32688"/>
            <a:ext cx="8229600" cy="2794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43000"/>
          <a:ext cx="8037576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764792"/>
                <a:gridCol w="1764792"/>
                <a:gridCol w="1764792"/>
              </a:tblGrid>
              <a:tr h="391885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Класс</a:t>
                      </a:r>
                    </a:p>
                  </a:txBody>
                  <a:tcPr>
                    <a:solidFill>
                      <a:srgbClr val="4A86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Baseline</a:t>
                      </a:r>
                    </a:p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AUROC</a:t>
                      </a:r>
                    </a:p>
                  </a:txBody>
                  <a:tcPr>
                    <a:solidFill>
                      <a:srgbClr val="4A86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Полный пайплайн</a:t>
                      </a:r>
                    </a:p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AUROC</a:t>
                      </a:r>
                    </a:p>
                  </a:txBody>
                  <a:tcPr>
                    <a:solidFill>
                      <a:srgbClr val="4A86C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Δ AUROC</a:t>
                      </a:r>
                    </a:p>
                  </a:txBody>
                  <a:tcPr>
                    <a:solidFill>
                      <a:srgbClr val="4A86C8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2E"/>
                          </a:solidFill>
                          <a:latin typeface="Calibri"/>
                        </a:rPr>
                        <a:t>breakfast_box</a:t>
                      </a:r>
                    </a:p>
                  </a:txBody>
                  <a:tcPr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2E"/>
                          </a:solidFill>
                          <a:latin typeface="Calibri"/>
                        </a:rPr>
                        <a:t>0.589</a:t>
                      </a:r>
                    </a:p>
                  </a:txBody>
                  <a:tcPr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2E"/>
                          </a:solidFill>
                          <a:latin typeface="Calibri"/>
                        </a:rPr>
                        <a:t>0.852</a:t>
                      </a:r>
                    </a:p>
                  </a:txBody>
                  <a:tcPr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8E4E"/>
                          </a:solidFill>
                          <a:latin typeface="Calibri"/>
                        </a:rPr>
                        <a:t>+0.263</a:t>
                      </a:r>
                    </a:p>
                  </a:txBody>
                  <a:tcPr>
                    <a:solidFill>
                      <a:srgbClr val="F5F5F8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2E"/>
                          </a:solidFill>
                          <a:latin typeface="Calibri"/>
                        </a:rPr>
                        <a:t>juice_bottle</a:t>
                      </a:r>
                    </a:p>
                  </a:txBody>
                  <a:tcPr>
                    <a:solidFill>
                      <a:srgbClr val="EBEB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2E"/>
                          </a:solidFill>
                          <a:latin typeface="Calibri"/>
                        </a:rPr>
                        <a:t>0.537</a:t>
                      </a:r>
                    </a:p>
                  </a:txBody>
                  <a:tcPr>
                    <a:solidFill>
                      <a:srgbClr val="EBEB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2E"/>
                          </a:solidFill>
                          <a:latin typeface="Calibri"/>
                        </a:rPr>
                        <a:t>0.581</a:t>
                      </a:r>
                    </a:p>
                  </a:txBody>
                  <a:tcPr>
                    <a:solidFill>
                      <a:srgbClr val="EBEB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8E4E"/>
                          </a:solidFill>
                          <a:latin typeface="Calibri"/>
                        </a:rPr>
                        <a:t>+0.044</a:t>
                      </a:r>
                    </a:p>
                  </a:txBody>
                  <a:tcPr>
                    <a:solidFill>
                      <a:srgbClr val="EBEBF2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2E"/>
                          </a:solidFill>
                          <a:latin typeface="Calibri"/>
                        </a:rPr>
                        <a:t>pushpins</a:t>
                      </a:r>
                    </a:p>
                  </a:txBody>
                  <a:tcPr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2E"/>
                          </a:solidFill>
                          <a:latin typeface="Calibri"/>
                        </a:rPr>
                        <a:t>0.543</a:t>
                      </a:r>
                    </a:p>
                  </a:txBody>
                  <a:tcPr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2E"/>
                          </a:solidFill>
                          <a:latin typeface="Calibri"/>
                        </a:rPr>
                        <a:t>0.500</a:t>
                      </a:r>
                    </a:p>
                  </a:txBody>
                  <a:tcPr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  <a:latin typeface="Calibri"/>
                        </a:rPr>
                        <a:t>−0.043</a:t>
                      </a:r>
                    </a:p>
                  </a:txBody>
                  <a:tcPr>
                    <a:solidFill>
                      <a:srgbClr val="F5F5F8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2E"/>
                          </a:solidFill>
                          <a:latin typeface="Calibri"/>
                        </a:rPr>
                        <a:t>screw_bag</a:t>
                      </a:r>
                    </a:p>
                  </a:txBody>
                  <a:tcPr>
                    <a:solidFill>
                      <a:srgbClr val="EBEB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2E"/>
                          </a:solidFill>
                          <a:latin typeface="Calibri"/>
                        </a:rPr>
                        <a:t>0.484</a:t>
                      </a:r>
                    </a:p>
                  </a:txBody>
                  <a:tcPr>
                    <a:solidFill>
                      <a:srgbClr val="EBEB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2E"/>
                          </a:solidFill>
                          <a:latin typeface="Calibri"/>
                        </a:rPr>
                        <a:t>0.665</a:t>
                      </a:r>
                    </a:p>
                  </a:txBody>
                  <a:tcPr>
                    <a:solidFill>
                      <a:srgbClr val="EBEB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8E4E"/>
                          </a:solidFill>
                          <a:latin typeface="Calibri"/>
                        </a:rPr>
                        <a:t>+0.181</a:t>
                      </a:r>
                    </a:p>
                  </a:txBody>
                  <a:tcPr>
                    <a:solidFill>
                      <a:srgbClr val="EBEBF2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2E"/>
                          </a:solidFill>
                          <a:latin typeface="Calibri"/>
                        </a:rPr>
                        <a:t>splicing_connectors</a:t>
                      </a:r>
                    </a:p>
                  </a:txBody>
                  <a:tcPr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2E"/>
                          </a:solidFill>
                          <a:latin typeface="Calibri"/>
                        </a:rPr>
                        <a:t>0.481</a:t>
                      </a:r>
                    </a:p>
                  </a:txBody>
                  <a:tcPr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1A2E"/>
                          </a:solidFill>
                          <a:latin typeface="Calibri"/>
                        </a:rPr>
                        <a:t>0.620</a:t>
                      </a:r>
                    </a:p>
                  </a:txBody>
                  <a:tcPr>
                    <a:solidFill>
                      <a:srgbClr val="F5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8E4E"/>
                          </a:solidFill>
                          <a:latin typeface="Calibri"/>
                        </a:rPr>
                        <a:t>+0.139</a:t>
                      </a:r>
                    </a:p>
                  </a:txBody>
                  <a:tcPr>
                    <a:solidFill>
                      <a:srgbClr val="F5F5F8"/>
                    </a:solidFill>
                  </a:tcPr>
                </a:tc>
              </a:tr>
              <a:tr h="39189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A1A2E"/>
                          </a:solidFill>
                          <a:latin typeface="Calibri"/>
                        </a:rPr>
                        <a:t>Среднее (5 классов)</a:t>
                      </a:r>
                    </a:p>
                  </a:txBody>
                  <a:tcPr>
                    <a:solidFill>
                      <a:srgbClr val="EBEB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A1A2E"/>
                          </a:solidFill>
                          <a:latin typeface="Calibri"/>
                        </a:rPr>
                        <a:t>0.527</a:t>
                      </a:r>
                    </a:p>
                  </a:txBody>
                  <a:tcPr>
                    <a:solidFill>
                      <a:srgbClr val="EBEB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A1A2E"/>
                          </a:solidFill>
                          <a:latin typeface="Calibri"/>
                        </a:rPr>
                        <a:t>0.644</a:t>
                      </a:r>
                    </a:p>
                  </a:txBody>
                  <a:tcPr>
                    <a:solidFill>
                      <a:srgbClr val="EBEB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E8E4E"/>
                          </a:solidFill>
                          <a:latin typeface="Calibri"/>
                        </a:rPr>
                        <a:t>+0.117</a:t>
                      </a:r>
                    </a:p>
                  </a:txBody>
                  <a:tcPr>
                    <a:solidFill>
                      <a:srgbClr val="EBEB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16052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4A5A6A"/>
                </a:solidFill>
                <a:latin typeface="Calibri"/>
              </a:rPr>
              <a:t>Baseline — полный пайплайн, исходные определения, полный тест. «Полный пайплайн»: breakfast_box — запуск r25; остальные — full50 с переписанными определениями нормальности (50 изобр., 25 норм. + 25 логич.). Размеры тестовых наборов различаются — значения ориентировочны.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4A86C8"/>
                </a:solidFill>
                <a:latin typeface="Calibri"/>
              </a:rPr>
              <a:t>Цель и задачи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32688"/>
            <a:ext cx="8229600" cy="2794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E8A020"/>
                </a:solidFill>
                <a:latin typeface="Calibri"/>
              </a:rPr>
              <a:t>Цель: </a:t>
            </a:r>
            <a:r>
              <a:rPr sz="1600">
                <a:solidFill>
                  <a:srgbClr val="1A1A2E"/>
                </a:solidFill>
                <a:latin typeface="Calibri"/>
              </a:rPr>
              <a:t>повысить точность обнаружения логических аномалий за счёт training-free фреймворка на открытых визуально-языковых моделях, без разметки аномальных данных.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65960"/>
            <a:ext cx="8229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4A86C8"/>
                </a:solidFill>
                <a:latin typeface="Calibri"/>
              </a:rPr>
              <a:t>Задачи:</a:t>
            </a:r>
          </a:p>
          <a:p>
            <a:pPr>
              <a:spcBef>
                <a:spcPts val="300"/>
              </a:spcBef>
            </a:pPr>
            <a:r>
              <a:rPr sz="1350">
                <a:solidFill>
                  <a:srgbClr val="4A5A6A"/>
                </a:solidFill>
                <a:latin typeface="Calibri"/>
              </a:rPr>
              <a:t>1. Обзор методов обнаружения аномалий, обоснование выбора VLM-подхода.</a:t>
            </a:r>
          </a:p>
          <a:p>
            <a:pPr>
              <a:spcBef>
                <a:spcPts val="300"/>
              </a:spcBef>
            </a:pPr>
            <a:r>
              <a:rPr sz="1350">
                <a:solidFill>
                  <a:srgbClr val="4A5A6A"/>
                </a:solidFill>
                <a:latin typeface="Calibri"/>
              </a:rPr>
              <a:t>2. Воспроизвести LogicQA на открытой InternVL2.5-8B, установить базовые метрики (5 классов).</a:t>
            </a:r>
          </a:p>
          <a:p>
            <a:pPr>
              <a:spcBef>
                <a:spcPts val="300"/>
              </a:spcBef>
            </a:pPr>
            <a:r>
              <a:rPr sz="1350">
                <a:solidFill>
                  <a:srgbClr val="4A5A6A"/>
                </a:solidFill>
                <a:latin typeface="Calibri"/>
              </a:rPr>
              <a:t>3. Разработать декомпозированный 4-стадийный пайплайн (per-component Stage 1).</a:t>
            </a:r>
          </a:p>
          <a:p>
            <a:pPr>
              <a:spcBef>
                <a:spcPts val="300"/>
              </a:spcBef>
            </a:pPr>
            <a:r>
              <a:rPr sz="1350">
                <a:solidFill>
                  <a:srgbClr val="4A5A6A"/>
                </a:solidFill>
                <a:latin typeface="Calibri"/>
              </a:rPr>
              <a:t>4. Реализовать улучшения: inline Chain-of-Thought (RC4-A), count-bypass, stem-matching и др.</a:t>
            </a:r>
          </a:p>
          <a:p>
            <a:pPr>
              <a:spcBef>
                <a:spcPts val="300"/>
              </a:spcBef>
            </a:pPr>
            <a:r>
              <a:rPr sz="1350">
                <a:solidFill>
                  <a:srgbClr val="4A5A6A"/>
                </a:solidFill>
                <a:latin typeface="Calibri"/>
              </a:rPr>
              <a:t>5. Разработать иерархическую систему оценки L1–L4.</a:t>
            </a:r>
          </a:p>
          <a:p>
            <a:pPr>
              <a:spcBef>
                <a:spcPts val="300"/>
              </a:spcBef>
            </a:pPr>
            <a:r>
              <a:rPr sz="1350">
                <a:solidFill>
                  <a:srgbClr val="4A5A6A"/>
                </a:solidFill>
                <a:latin typeface="Calibri"/>
              </a:rPr>
              <a:t>6. Провести серию воспроизводимых экспериментов и проанализировать прогрессию метрик.</a:t>
            </a:r>
          </a:p>
          <a:p>
            <a:pPr>
              <a:spcBef>
                <a:spcPts val="300"/>
              </a:spcBef>
            </a:pPr>
            <a:r>
              <a:rPr sz="1350">
                <a:solidFill>
                  <a:srgbClr val="4A5A6A"/>
                </a:solidFill>
                <a:latin typeface="Calibri"/>
              </a:rPr>
              <a:t>7. Оценить влияние масштабирования модели (8B → 38B-AWQ).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1115</Words>
  <Application>Microsoft Office PowerPoint</Application>
  <PresentationFormat>Экран (16:9)</PresentationFormat>
  <Paragraphs>215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Courier New</vt:lpstr>
      <vt:lpstr>Times New Roman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Даниэль Сахаров</cp:lastModifiedBy>
  <cp:revision>9</cp:revision>
  <dcterms:created xsi:type="dcterms:W3CDTF">2013-01-27T09:14:16Z</dcterms:created>
  <dcterms:modified xsi:type="dcterms:W3CDTF">2026-05-21T15:02:55Z</dcterms:modified>
  <cp:category/>
</cp:coreProperties>
</file>